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embeddedFontLst>
    <p:embeddedFont>
      <p:font typeface="Calibri" panose="020F0502020204030204" pitchFamily="34" charset="0"/>
      <p:regular r:id="rId17"/>
      <p:bold r:id="rId18"/>
      <p:italic r:id="rId19"/>
      <p:boldItalic r:id="rId20"/>
    </p:embeddedFont>
    <p:embeddedFont>
      <p:font typeface="Consolas" panose="020B0609020204030204" pitchFamily="49" charset="0"/>
      <p:regular r:id="rId21"/>
      <p:bold r:id="rId22"/>
      <p:italic r:id="rId23"/>
      <p:boldItalic r:id="rId24"/>
    </p:embeddedFont>
    <p:embeddedFont>
      <p:font typeface="DM Sans" pitchFamily="2" charset="0"/>
      <p:regular r:id="rId25"/>
      <p:bold r:id="rId26"/>
      <p:italic r:id="rId27"/>
      <p:boldItalic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95" d="100"/>
          <a:sy n="95" d="100"/>
        </p:scale>
        <p:origin x="-276" y="-4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692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segundo corte. Sustituir el marcador de integrantes por los nombres reales del equipo antes de exportar el PDF.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del ejemplo son ficticios. Explicar la situación con el Peluche Stitch: stock 3, mínimo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Proceso sin automatización: cinco pasos que dependen de una persona. En naranja, dónde aparecen demoras, errores y tareas repetitivas.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Alcance de la versión entregada. Lo que queda fuera aparece de nuevo como mejoras propuestas al final.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sistemas: el cliente que pregunta, n8n que decide y Supabase que guarda. Aquí se explican los términos técnicos que se usan en el resto de la presentación.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1 de las pruebas, ejecutado el 24 de octubre de 2026. La clave de la alerta combina el id del producto y la fecha, por eso repetir la petición el mismo día no crea otra alerta.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Arriba, la respuesta del Webhook en el navegador. Abajo, la tabla de Supabase después de la prueba. Ver la respuesta no basta como prueba: por eso se muestra también la fila creada en la tabla.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Supabase es el único servicio externo. Se usa para leer el inventario y para escribir alertas e incidentes, siempre mediante HTTP Request. El encabezado Prefer: resolution=merge-duplicates junto con on_conflict hace que repetir una escritura actualice la fila en vez de duplicarla.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workflows, cada uno con una responsabilidad. Los archivos se llaman Principal_Revision_Stock.json, Preparar_Producto.json y Manejador_Errores.json. El manejador se asocia al principal en los ajustes del flujo (Error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Diferencia clave: una respuesta del negocio es un resultado esperado y no activa el manejador. Solo un error técnico, como una tabla que no existe, lo activa. Guardar el incidente en una tabla no equivale a avisar a alguien.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fallo se provocó a propósito, por eso aparece como simulado en el estado final. Para no duplicar al repetir, la clave de la alerta (id del producto más fecha) y la inserción con fusión de duplicados hacen que la repetición actualice la misma fila. El manejador solo se activa con ejecuciones automáticas, no con las manuales del editor.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1 a 6 fueron manuales con la URL de prueba del Webhook. Las pruebas 7 y 8 fueron automáticas con la URL de producción. No se midieron ahorros de tiempo, por eso el beneficio se presenta solo como esperado.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Separar con claridad lo implementado, lo simulado y lo propuesto. Lo propuesto no está construido.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Reemplazar el marcador por el enlace real del repositorio. Si es privado, dar acceso al docente antes de entregar.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B2430"/>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64580"/>
            <a:ext cx="10566400" cy="4480620"/>
          </a:xfrm>
          <a:prstGeom prst="rect">
            <a:avLst/>
          </a:prstGeom>
          <a:noFill/>
          <a:ln/>
        </p:spPr>
        <p:txBody>
          <a:bodyPr wrap="square" lIns="0" tIns="0" rIns="0" bIns="0" rtlCol="0" anchor="t"/>
          <a:lstStyle>
            <a:lvl1pPr marL="0" indent="0" algn="l">
              <a:lnSpc>
                <a:spcPct val="140000"/>
              </a:lnSpc>
              <a:buNone/>
              <a:defRPr lang="en-US" sz="1600" dirty="0">
                <a:solidFill>
                  <a:srgbClr val="1B2430"/>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B2430"/>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64580"/>
            <a:ext cx="10566400" cy="4480620"/>
          </a:xfrm>
          <a:prstGeom prst="rect">
            <a:avLst/>
          </a:prstGeom>
          <a:noFill/>
          <a:ln/>
        </p:spPr>
        <p:txBody>
          <a:bodyPr wrap="square" lIns="0" tIns="0" rIns="0" bIns="0" rtlCol="0" anchor="t"/>
          <a:lstStyle>
            <a:lvl1pPr marL="0" indent="0" algn="l">
              <a:lnSpc>
                <a:spcPct val="140000"/>
              </a:lnSpc>
              <a:buNone/>
              <a:defRPr lang="en-US" sz="1600" dirty="0">
                <a:solidFill>
                  <a:srgbClr val="1B2430"/>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D3C8"/>
                </a:solidFill>
                <a:latin typeface="DM Sans" pitchFamily="34" charset="0"/>
                <a:ea typeface="DM Sans" pitchFamily="34" charset="-122"/>
                <a:cs typeface="DM Sans" pitchFamily="34" charset="-120"/>
              </a:rPr>
              <a:t>AUTOMATIZACIÓN INTELIGENTE DE PROCESOS CON N8N · EAM · 2026 II</a:t>
            </a:r>
            <a:endParaRPr lang="en-US" sz="1400" dirty="0"/>
          </a:p>
        </p:txBody>
      </p:sp>
      <p:sp>
        <p:nvSpPr>
          <p:cNvPr id="3" name="Text 1"/>
          <p:cNvSpPr>
            <a:spLocks noGrp="1"/>
          </p:cNvSpPr>
          <p:nvPr>
            <p:ph type="title"/>
          </p:nvPr>
        </p:nvSpPr>
        <p:spPr>
          <a:xfrm>
            <a:off x="812800" y="2154039"/>
            <a:ext cx="10883392" cy="1412081"/>
          </a:xfrm>
          <a:prstGeom prst="rect">
            <a:avLst/>
          </a:prstGeom>
          <a:noFill/>
          <a:ln/>
        </p:spPr>
        <p:txBody>
          <a:bodyPr wrap="square" lIns="0" tIns="0" rIns="0" bIns="0" rtlCol="0" anchor="t">
            <a:normAutofit/>
          </a:bodyPr>
          <a:lstStyle/>
          <a:p>
            <a:pPr marL="0" indent="0" algn="l">
              <a:lnSpc>
                <a:spcPts val="5460"/>
              </a:lnSpc>
              <a:buNone/>
            </a:pPr>
            <a:r>
              <a:rPr lang="en-US" sz="5200" b="1" i="0" dirty="0">
                <a:solidFill>
                  <a:srgbClr val="F6F5F1"/>
                </a:solidFill>
                <a:latin typeface="DM Sans" pitchFamily="34" charset="0"/>
                <a:ea typeface="DM Sans" pitchFamily="34" charset="-122"/>
                <a:cs typeface="DM Sans" pitchFamily="34" charset="-120"/>
              </a:rPr>
              <a:t>Inventario: revisión de stock y alertas de reposición</a:t>
            </a:r>
            <a:endParaRPr lang="en-US" sz="5200" dirty="0"/>
          </a:p>
        </p:txBody>
      </p:sp>
      <p:sp>
        <p:nvSpPr>
          <p:cNvPr id="4" name="Text 2"/>
          <p:cNvSpPr/>
          <p:nvPr/>
        </p:nvSpPr>
        <p:spPr>
          <a:xfrm>
            <a:off x="812800" y="3743920"/>
            <a:ext cx="10883392"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C9D4DC"/>
                </a:solidFill>
                <a:latin typeface="DM Sans" pitchFamily="34" charset="0"/>
                <a:ea typeface="DM Sans" pitchFamily="34" charset="-122"/>
                <a:cs typeface="DM Sans" pitchFamily="34" charset="-120"/>
              </a:rPr>
              <a:t>Una solución en n8n y Supabase que revisa el stock de un producto, decide si hay que reponerlo y deja la alerta registrada.</a:t>
            </a:r>
            <a:endParaRPr lang="en-US" sz="2000" dirty="0"/>
          </a:p>
        </p:txBody>
      </p:sp>
      <p:sp>
        <p:nvSpPr>
          <p:cNvPr id="5" name="Text 3"/>
          <p:cNvSpPr/>
          <p:nvPr/>
        </p:nvSpPr>
        <p:spPr>
          <a:xfrm>
            <a:off x="812800" y="4656689"/>
            <a:ext cx="357244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6F5F1"/>
                </a:solidFill>
                <a:latin typeface="DM Sans" pitchFamily="34" charset="0"/>
                <a:ea typeface="DM Sans" pitchFamily="34" charset="-122"/>
                <a:cs typeface="DM Sans" pitchFamily="34" charset="-120"/>
              </a:rPr>
              <a:t>Integrantes</a:t>
            </a:r>
            <a:endParaRPr lang="en-US" sz="1400" dirty="0"/>
          </a:p>
        </p:txBody>
      </p:sp>
      <p:sp>
        <p:nvSpPr>
          <p:cNvPr id="6" name="Text 4"/>
          <p:cNvSpPr/>
          <p:nvPr/>
        </p:nvSpPr>
        <p:spPr>
          <a:xfrm>
            <a:off x="812799" y="5157899"/>
            <a:ext cx="4435061" cy="486060"/>
          </a:xfrm>
          <a:prstGeom prst="rect">
            <a:avLst/>
          </a:prstGeom>
          <a:noFill/>
          <a:ln/>
        </p:spPr>
        <p:txBody>
          <a:bodyPr wrap="square" lIns="0" tIns="0" rIns="0" bIns="0" rtlCol="0" anchor="t">
            <a:normAutofit fontScale="25000" lnSpcReduction="20000"/>
          </a:bodyPr>
          <a:lstStyle/>
          <a:p>
            <a:r>
              <a:rPr lang="en-US" sz="1400" dirty="0">
                <a:solidFill>
                  <a:srgbClr val="C9D4DC"/>
                </a:solidFill>
                <a:latin typeface="DM Sans" pitchFamily="34" charset="0"/>
                <a:ea typeface="DM Sans" pitchFamily="34" charset="-122"/>
                <a:cs typeface="DM Sans" pitchFamily="34" charset="-120"/>
              </a:rPr>
              <a:t>[</a:t>
            </a:r>
            <a:r>
              <a:rPr lang="es-CO" sz="6400" b="0" dirty="0">
                <a:solidFill>
                  <a:srgbClr val="79C0FF"/>
                </a:solidFill>
                <a:effectLst/>
                <a:latin typeface="Consolas" panose="020B0609020204030204" pitchFamily="49" charset="0"/>
              </a:rPr>
              <a:t>Jorge </a:t>
            </a:r>
            <a:r>
              <a:rPr lang="es-CO" sz="6400" b="0" dirty="0" err="1">
                <a:solidFill>
                  <a:srgbClr val="79C0FF"/>
                </a:solidFill>
                <a:effectLst/>
                <a:latin typeface="Consolas" panose="020B0609020204030204" pitchFamily="49" charset="0"/>
              </a:rPr>
              <a:t>Martinez</a:t>
            </a:r>
            <a:r>
              <a:rPr lang="es-CO" sz="6400" b="0" dirty="0">
                <a:solidFill>
                  <a:srgbClr val="BBBEBF"/>
                </a:solidFill>
                <a:effectLst/>
                <a:latin typeface="Consolas" panose="020B0609020204030204" pitchFamily="49" charset="0"/>
              </a:rPr>
              <a:t> </a:t>
            </a:r>
          </a:p>
          <a:p>
            <a:r>
              <a:rPr lang="es-CO" sz="6400" b="0" dirty="0">
                <a:solidFill>
                  <a:srgbClr val="79C0FF"/>
                </a:solidFill>
                <a:effectLst/>
                <a:latin typeface="Consolas" panose="020B0609020204030204" pitchFamily="49" charset="0"/>
              </a:rPr>
              <a:t>Gabriela </a:t>
            </a:r>
            <a:r>
              <a:rPr lang="es-CO" sz="6400" b="0" dirty="0" err="1">
                <a:solidFill>
                  <a:srgbClr val="79C0FF"/>
                </a:solidFill>
                <a:effectLst/>
                <a:latin typeface="Consolas" panose="020B0609020204030204" pitchFamily="49" charset="0"/>
              </a:rPr>
              <a:t>Rios</a:t>
            </a:r>
            <a:r>
              <a:rPr lang="es-CO" sz="6400" b="0" dirty="0">
                <a:solidFill>
                  <a:srgbClr val="BBBEBF"/>
                </a:solidFill>
                <a:effectLst/>
                <a:latin typeface="Consolas" panose="020B0609020204030204" pitchFamily="49" charset="0"/>
              </a:rPr>
              <a:t>  </a:t>
            </a:r>
            <a:endParaRPr lang="es-CO" sz="6400" b="0" dirty="0">
              <a:solidFill>
                <a:srgbClr val="79C0FF"/>
              </a:solidFill>
              <a:effectLst/>
              <a:latin typeface="Consolas" panose="020B0609020204030204" pitchFamily="49" charset="0"/>
            </a:endParaRPr>
          </a:p>
          <a:p>
            <a:r>
              <a:rPr lang="es-CO" sz="6400" b="0" dirty="0">
                <a:solidFill>
                  <a:srgbClr val="79C0FF"/>
                </a:solidFill>
                <a:effectLst/>
                <a:latin typeface="Consolas" panose="020B0609020204030204" pitchFamily="49" charset="0"/>
              </a:rPr>
              <a:t>Michael Aguilera</a:t>
            </a:r>
            <a:endParaRPr lang="es-CO" sz="6400" b="0" dirty="0">
              <a:solidFill>
                <a:srgbClr val="BBBEBF"/>
              </a:solidFill>
              <a:effectLst/>
              <a:latin typeface="Consolas" panose="020B0609020204030204" pitchFamily="49" charset="0"/>
            </a:endParaRPr>
          </a:p>
          <a:p>
            <a:r>
              <a:rPr lang="es-CO" sz="6400" b="0" dirty="0" err="1">
                <a:solidFill>
                  <a:srgbClr val="79C0FF"/>
                </a:solidFill>
                <a:effectLst/>
                <a:latin typeface="Consolas" panose="020B0609020204030204" pitchFamily="49" charset="0"/>
              </a:rPr>
              <a:t>Valentiha</a:t>
            </a:r>
            <a:r>
              <a:rPr lang="es-CO" sz="6400" b="0" dirty="0">
                <a:solidFill>
                  <a:srgbClr val="79C0FF"/>
                </a:solidFill>
                <a:effectLst/>
                <a:latin typeface="Consolas" panose="020B0609020204030204" pitchFamily="49" charset="0"/>
              </a:rPr>
              <a:t> </a:t>
            </a:r>
            <a:r>
              <a:rPr lang="es-CO" sz="6400" b="0" dirty="0" err="1">
                <a:solidFill>
                  <a:srgbClr val="79C0FF"/>
                </a:solidFill>
                <a:effectLst/>
                <a:latin typeface="Consolas" panose="020B0609020204030204" pitchFamily="49" charset="0"/>
              </a:rPr>
              <a:t>Gutierrez</a:t>
            </a:r>
            <a:endParaRPr lang="es-CO" sz="6400" b="0" dirty="0">
              <a:solidFill>
                <a:srgbClr val="BBBEBF"/>
              </a:solidFill>
              <a:effectLst/>
              <a:latin typeface="Consolas" panose="020B0609020204030204" pitchFamily="49" charset="0"/>
            </a:endParaRPr>
          </a:p>
          <a:p>
            <a:pPr marL="0" indent="0" algn="l">
              <a:lnSpc>
                <a:spcPts val="1960"/>
              </a:lnSpc>
              <a:buNone/>
            </a:pPr>
            <a:endParaRPr lang="en-US" sz="1400" dirty="0"/>
          </a:p>
        </p:txBody>
      </p:sp>
      <p:sp>
        <p:nvSpPr>
          <p:cNvPr id="7" name="Text 5"/>
          <p:cNvSpPr/>
          <p:nvPr/>
        </p:nvSpPr>
        <p:spPr>
          <a:xfrm>
            <a:off x="9748540" y="5643959"/>
            <a:ext cx="1630660" cy="401241"/>
          </a:xfrm>
          <a:prstGeom prst="roundRect">
            <a:avLst>
              <a:gd name="adj" fmla="val 50000"/>
            </a:avLst>
          </a:prstGeom>
          <a:solidFill>
            <a:srgbClr val="7DD3C8"/>
          </a:solidFill>
          <a:ln/>
        </p:spPr>
        <p:txBody>
          <a:bodyPr wrap="none" lIns="0" tIns="0" rIns="0" bIns="0" rtlCol="0" anchor="ctr">
            <a:normAutofit/>
          </a:bodyPr>
          <a:lstStyle/>
          <a:p>
            <a:pPr marL="0" indent="0" algn="ctr">
              <a:lnSpc>
                <a:spcPts val="1960"/>
              </a:lnSpc>
              <a:buNone/>
            </a:pPr>
            <a:r>
              <a:rPr lang="en-US" sz="1400" b="1" dirty="0">
                <a:solidFill>
                  <a:srgbClr val="12202B"/>
                </a:solidFill>
                <a:latin typeface="DM Sans" pitchFamily="34" charset="0"/>
                <a:ea typeface="DM Sans" pitchFamily="34" charset="-122"/>
                <a:cs typeface="DM Sans" pitchFamily="34" charset="-120"/>
              </a:rPr>
              <a:t>Segundo corte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Un faltante que nadie vio a tiempo</a:t>
            </a:r>
            <a:endParaRPr lang="en-US" sz="3200" dirty="0"/>
          </a:p>
        </p:txBody>
      </p:sp>
      <p:sp>
        <p:nvSpPr>
          <p:cNvPr id="3" name="Shape 1"/>
          <p:cNvSpPr/>
          <p:nvPr/>
        </p:nvSpPr>
        <p:spPr>
          <a:xfrm>
            <a:off x="812800" y="1513780"/>
            <a:ext cx="10566400" cy="1484511"/>
          </a:xfrm>
          <a:prstGeom prst="roundRect">
            <a:avLst>
              <a:gd name="adj" fmla="val 8555"/>
            </a:avLst>
          </a:prstGeom>
          <a:solidFill>
            <a:srgbClr val="12202B"/>
          </a:solidFill>
          <a:ln/>
        </p:spPr>
      </p:sp>
      <p:sp>
        <p:nvSpPr>
          <p:cNvPr id="4" name="Text 2"/>
          <p:cNvSpPr/>
          <p:nvPr/>
        </p:nvSpPr>
        <p:spPr>
          <a:xfrm>
            <a:off x="1117600" y="1767780"/>
            <a:ext cx="10255504"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D3C8"/>
                </a:solidFill>
                <a:latin typeface="DM Sans" pitchFamily="34" charset="0"/>
                <a:ea typeface="DM Sans" pitchFamily="34" charset="-122"/>
                <a:cs typeface="DM Sans" pitchFamily="34" charset="-120"/>
              </a:rPr>
              <a:t>UNA SITUACIÓN CONCRETA</a:t>
            </a:r>
            <a:endParaRPr lang="en-US" sz="1400" dirty="0"/>
          </a:p>
        </p:txBody>
      </p:sp>
      <p:sp>
        <p:nvSpPr>
          <p:cNvPr id="5" name="Text 3"/>
          <p:cNvSpPr/>
          <p:nvPr/>
        </p:nvSpPr>
        <p:spPr>
          <a:xfrm>
            <a:off x="1117600" y="2092821"/>
            <a:ext cx="10255504" cy="676870"/>
          </a:xfrm>
          <a:prstGeom prst="rect">
            <a:avLst/>
          </a:prstGeom>
          <a:noFill/>
          <a:ln/>
        </p:spPr>
        <p:txBody>
          <a:bodyPr wrap="square" lIns="0" tIns="0" rIns="0" bIns="0" rtlCol="0" anchor="t">
            <a:normAutofit/>
          </a:bodyPr>
          <a:lstStyle/>
          <a:p>
            <a:pPr marL="0" indent="0" algn="l">
              <a:lnSpc>
                <a:spcPts val="2565"/>
              </a:lnSpc>
              <a:buNone/>
            </a:pPr>
            <a:r>
              <a:rPr lang="en-US" sz="1900" dirty="0">
                <a:solidFill>
                  <a:srgbClr val="F6F5F1"/>
                </a:solidFill>
                <a:latin typeface="DM Sans" pitchFamily="34" charset="0"/>
                <a:ea typeface="DM Sans" pitchFamily="34" charset="-122"/>
                <a:cs typeface="DM Sans" pitchFamily="34" charset="-120"/>
              </a:rPr>
              <a:t>Una tienda vende peluches y camisetas. El Peluche Stitch tiene 3 unidades y su stock mínimo es 10. Si nadie lo revisa a tiempo, el producto se agota y se pierden ventas.</a:t>
            </a:r>
            <a:endParaRPr lang="en-US" sz="1900" dirty="0"/>
          </a:p>
        </p:txBody>
      </p:sp>
      <p:sp>
        <p:nvSpPr>
          <p:cNvPr id="6" name="Shape 4"/>
          <p:cNvSpPr/>
          <p:nvPr/>
        </p:nvSpPr>
        <p:spPr>
          <a:xfrm>
            <a:off x="815975" y="3255466"/>
            <a:ext cx="3380284" cy="1230412"/>
          </a:xfrm>
          <a:prstGeom prst="roundRect">
            <a:avLst>
              <a:gd name="adj" fmla="val 7999"/>
            </a:avLst>
          </a:prstGeom>
          <a:solidFill>
            <a:srgbClr val="FFFFFF"/>
          </a:solidFill>
          <a:ln w="6350">
            <a:solidFill>
              <a:srgbClr val="DAD8D0"/>
            </a:solidFill>
            <a:prstDash val="solid"/>
          </a:ln>
        </p:spPr>
      </p:sp>
      <p:sp>
        <p:nvSpPr>
          <p:cNvPr id="7" name="Text 5"/>
          <p:cNvSpPr/>
          <p:nvPr/>
        </p:nvSpPr>
        <p:spPr>
          <a:xfrm>
            <a:off x="1022350"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Quién lo enfrenta</a:t>
            </a:r>
            <a:endParaRPr lang="en-US" sz="1600" dirty="0"/>
          </a:p>
        </p:txBody>
      </p:sp>
      <p:sp>
        <p:nvSpPr>
          <p:cNvPr id="8" name="Text 6"/>
          <p:cNvSpPr/>
          <p:nvPr/>
        </p:nvSpPr>
        <p:spPr>
          <a:xfrm>
            <a:off x="1022350"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La persona que administra el inventario de la tienda.</a:t>
            </a:r>
            <a:endParaRPr lang="en-US" sz="1400" dirty="0"/>
          </a:p>
        </p:txBody>
      </p:sp>
      <p:sp>
        <p:nvSpPr>
          <p:cNvPr id="9" name="Shape 7"/>
          <p:cNvSpPr/>
          <p:nvPr/>
        </p:nvSpPr>
        <p:spPr>
          <a:xfrm>
            <a:off x="4405809" y="3255466"/>
            <a:ext cx="3380284" cy="1230412"/>
          </a:xfrm>
          <a:prstGeom prst="roundRect">
            <a:avLst>
              <a:gd name="adj" fmla="val 7999"/>
            </a:avLst>
          </a:prstGeom>
          <a:solidFill>
            <a:srgbClr val="FFFFFF"/>
          </a:solidFill>
          <a:ln w="6350">
            <a:solidFill>
              <a:srgbClr val="DAD8D0"/>
            </a:solidFill>
            <a:prstDash val="solid"/>
          </a:ln>
        </p:spPr>
      </p:sp>
      <p:sp>
        <p:nvSpPr>
          <p:cNvPr id="10" name="Text 8"/>
          <p:cNvSpPr/>
          <p:nvPr/>
        </p:nvSpPr>
        <p:spPr>
          <a:xfrm>
            <a:off x="4612184"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Qué falla hoy</a:t>
            </a:r>
            <a:endParaRPr lang="en-US" sz="1600" dirty="0"/>
          </a:p>
        </p:txBody>
      </p:sp>
      <p:sp>
        <p:nvSpPr>
          <p:cNvPr id="11" name="Text 9"/>
          <p:cNvSpPr/>
          <p:nvPr/>
        </p:nvSpPr>
        <p:spPr>
          <a:xfrm>
            <a:off x="4612184"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Revisar producto por producto es lento y es fácil olvidar un faltante.</a:t>
            </a:r>
            <a:endParaRPr lang="en-US" sz="1400" dirty="0"/>
          </a:p>
        </p:txBody>
      </p:sp>
      <p:sp>
        <p:nvSpPr>
          <p:cNvPr id="12" name="Shape 10"/>
          <p:cNvSpPr/>
          <p:nvPr/>
        </p:nvSpPr>
        <p:spPr>
          <a:xfrm>
            <a:off x="7995642" y="3255466"/>
            <a:ext cx="3380284" cy="1230412"/>
          </a:xfrm>
          <a:prstGeom prst="roundRect">
            <a:avLst>
              <a:gd name="adj" fmla="val 7999"/>
            </a:avLst>
          </a:prstGeom>
          <a:solidFill>
            <a:srgbClr val="FFFFFF"/>
          </a:solidFill>
          <a:ln w="6350">
            <a:solidFill>
              <a:srgbClr val="DAD8D0"/>
            </a:solidFill>
            <a:prstDash val="solid"/>
          </a:ln>
        </p:spPr>
      </p:sp>
      <p:sp>
        <p:nvSpPr>
          <p:cNvPr id="13" name="Text 11"/>
          <p:cNvSpPr/>
          <p:nvPr/>
        </p:nvSpPr>
        <p:spPr>
          <a:xfrm>
            <a:off x="8202017"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Qué se necesita</a:t>
            </a:r>
            <a:endParaRPr lang="en-US" sz="1600" dirty="0"/>
          </a:p>
        </p:txBody>
      </p:sp>
      <p:sp>
        <p:nvSpPr>
          <p:cNvPr id="14" name="Text 12"/>
          <p:cNvSpPr/>
          <p:nvPr/>
        </p:nvSpPr>
        <p:spPr>
          <a:xfrm>
            <a:off x="8202017"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Saber qué reponer, cuánto falta y dejar un registro de la alerta.</a:t>
            </a:r>
            <a:endParaRPr lang="en-US" sz="14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Cómo se hace hoy, a mano</a:t>
            </a:r>
            <a:endParaRPr lang="en-US" sz="3200" dirty="0"/>
          </a:p>
        </p:txBody>
      </p:sp>
      <p:sp>
        <p:nvSpPr>
          <p:cNvPr id="3" name="Shape 1"/>
          <p:cNvSpPr/>
          <p:nvPr/>
        </p:nvSpPr>
        <p:spPr>
          <a:xfrm>
            <a:off x="815975" y="1491555"/>
            <a:ext cx="1964630" cy="1513780"/>
          </a:xfrm>
          <a:prstGeom prst="roundRect">
            <a:avLst>
              <a:gd name="adj" fmla="val 6502"/>
            </a:avLst>
          </a:prstGeom>
          <a:solidFill>
            <a:srgbClr val="FFFFFF"/>
          </a:solidFill>
          <a:ln w="6350">
            <a:solidFill>
              <a:srgbClr val="DAD8D0"/>
            </a:solidFill>
            <a:prstDash val="solid"/>
          </a:ln>
        </p:spPr>
      </p:sp>
      <p:sp>
        <p:nvSpPr>
          <p:cNvPr id="4" name="Text 2"/>
          <p:cNvSpPr/>
          <p:nvPr/>
        </p:nvSpPr>
        <p:spPr>
          <a:xfrm>
            <a:off x="99695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1</a:t>
            </a:r>
            <a:endParaRPr lang="en-US" sz="2000" dirty="0"/>
          </a:p>
        </p:txBody>
      </p:sp>
      <p:sp>
        <p:nvSpPr>
          <p:cNvPr id="5" name="Text 3"/>
          <p:cNvSpPr/>
          <p:nvPr/>
        </p:nvSpPr>
        <p:spPr>
          <a:xfrm>
            <a:off x="996950" y="2104330"/>
            <a:ext cx="16534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Abrir la hoja o base de inventario</a:t>
            </a:r>
            <a:endParaRPr lang="en-US" sz="1400" dirty="0"/>
          </a:p>
        </p:txBody>
      </p:sp>
      <p:sp>
        <p:nvSpPr>
          <p:cNvPr id="6" name="Shape 4"/>
          <p:cNvSpPr/>
          <p:nvPr/>
        </p:nvSpPr>
        <p:spPr>
          <a:xfrm>
            <a:off x="2964755" y="1491555"/>
            <a:ext cx="1964730" cy="1513780"/>
          </a:xfrm>
          <a:prstGeom prst="roundRect">
            <a:avLst>
              <a:gd name="adj" fmla="val 6502"/>
            </a:avLst>
          </a:prstGeom>
          <a:solidFill>
            <a:srgbClr val="FFFFFF"/>
          </a:solidFill>
          <a:ln w="6350">
            <a:solidFill>
              <a:srgbClr val="DAD8D0"/>
            </a:solidFill>
            <a:prstDash val="solid"/>
          </a:ln>
        </p:spPr>
      </p:sp>
      <p:sp>
        <p:nvSpPr>
          <p:cNvPr id="7" name="Text 5"/>
          <p:cNvSpPr/>
          <p:nvPr/>
        </p:nvSpPr>
        <p:spPr>
          <a:xfrm>
            <a:off x="3145730" y="1672530"/>
            <a:ext cx="16535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2</a:t>
            </a:r>
            <a:endParaRPr lang="en-US" sz="2000" dirty="0"/>
          </a:p>
        </p:txBody>
      </p:sp>
      <p:sp>
        <p:nvSpPr>
          <p:cNvPr id="8" name="Text 6"/>
          <p:cNvSpPr/>
          <p:nvPr/>
        </p:nvSpPr>
        <p:spPr>
          <a:xfrm>
            <a:off x="3145730" y="2104330"/>
            <a:ext cx="16535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Buscar el producto por nombre</a:t>
            </a:r>
            <a:endParaRPr lang="en-US" sz="1400" dirty="0"/>
          </a:p>
        </p:txBody>
      </p:sp>
      <p:sp>
        <p:nvSpPr>
          <p:cNvPr id="9" name="Shape 7"/>
          <p:cNvSpPr/>
          <p:nvPr/>
        </p:nvSpPr>
        <p:spPr>
          <a:xfrm>
            <a:off x="5113635" y="1491555"/>
            <a:ext cx="1964630" cy="1513780"/>
          </a:xfrm>
          <a:prstGeom prst="roundRect">
            <a:avLst>
              <a:gd name="adj" fmla="val 6502"/>
            </a:avLst>
          </a:prstGeom>
          <a:solidFill>
            <a:srgbClr val="FFFFFF"/>
          </a:solidFill>
          <a:ln w="6350">
            <a:solidFill>
              <a:srgbClr val="DAD8D0"/>
            </a:solidFill>
            <a:prstDash val="solid"/>
          </a:ln>
        </p:spPr>
      </p:sp>
      <p:sp>
        <p:nvSpPr>
          <p:cNvPr id="10" name="Text 8"/>
          <p:cNvSpPr/>
          <p:nvPr/>
        </p:nvSpPr>
        <p:spPr>
          <a:xfrm>
            <a:off x="529461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3</a:t>
            </a:r>
            <a:endParaRPr lang="en-US" sz="2000" dirty="0"/>
          </a:p>
        </p:txBody>
      </p:sp>
      <p:sp>
        <p:nvSpPr>
          <p:cNvPr id="11" name="Text 9"/>
          <p:cNvSpPr/>
          <p:nvPr/>
        </p:nvSpPr>
        <p:spPr>
          <a:xfrm>
            <a:off x="5294610" y="2104330"/>
            <a:ext cx="165348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Comparar el stock con el mínimo, a ojo</a:t>
            </a:r>
            <a:endParaRPr lang="en-US" sz="1400" dirty="0"/>
          </a:p>
        </p:txBody>
      </p:sp>
      <p:sp>
        <p:nvSpPr>
          <p:cNvPr id="12" name="Shape 10"/>
          <p:cNvSpPr/>
          <p:nvPr/>
        </p:nvSpPr>
        <p:spPr>
          <a:xfrm>
            <a:off x="7262416" y="1491555"/>
            <a:ext cx="1964730" cy="1513780"/>
          </a:xfrm>
          <a:prstGeom prst="roundRect">
            <a:avLst>
              <a:gd name="adj" fmla="val 6502"/>
            </a:avLst>
          </a:prstGeom>
          <a:solidFill>
            <a:srgbClr val="FFFFFF"/>
          </a:solidFill>
          <a:ln w="6350">
            <a:solidFill>
              <a:srgbClr val="DAD8D0"/>
            </a:solidFill>
            <a:prstDash val="solid"/>
          </a:ln>
        </p:spPr>
      </p:sp>
      <p:sp>
        <p:nvSpPr>
          <p:cNvPr id="13" name="Text 11"/>
          <p:cNvSpPr/>
          <p:nvPr/>
        </p:nvSpPr>
        <p:spPr>
          <a:xfrm>
            <a:off x="7443391" y="1672530"/>
            <a:ext cx="16535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4</a:t>
            </a:r>
            <a:endParaRPr lang="en-US" sz="2000" dirty="0"/>
          </a:p>
        </p:txBody>
      </p:sp>
      <p:sp>
        <p:nvSpPr>
          <p:cNvPr id="14" name="Text 12"/>
          <p:cNvSpPr/>
          <p:nvPr/>
        </p:nvSpPr>
        <p:spPr>
          <a:xfrm>
            <a:off x="7443391" y="2104330"/>
            <a:ext cx="16535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Calcular el faltante a mano</a:t>
            </a:r>
            <a:endParaRPr lang="en-US" sz="1400" dirty="0"/>
          </a:p>
        </p:txBody>
      </p:sp>
      <p:sp>
        <p:nvSpPr>
          <p:cNvPr id="15" name="Shape 13"/>
          <p:cNvSpPr/>
          <p:nvPr/>
        </p:nvSpPr>
        <p:spPr>
          <a:xfrm>
            <a:off x="9411295" y="1491555"/>
            <a:ext cx="1964630" cy="1513780"/>
          </a:xfrm>
          <a:prstGeom prst="roundRect">
            <a:avLst>
              <a:gd name="adj" fmla="val 6502"/>
            </a:avLst>
          </a:prstGeom>
          <a:solidFill>
            <a:srgbClr val="FFFFFF"/>
          </a:solidFill>
          <a:ln w="6350">
            <a:solidFill>
              <a:srgbClr val="DAD8D0"/>
            </a:solidFill>
            <a:prstDash val="solid"/>
          </a:ln>
        </p:spPr>
      </p:sp>
      <p:sp>
        <p:nvSpPr>
          <p:cNvPr id="16" name="Text 14"/>
          <p:cNvSpPr/>
          <p:nvPr/>
        </p:nvSpPr>
        <p:spPr>
          <a:xfrm>
            <a:off x="959227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5</a:t>
            </a:r>
            <a:endParaRPr lang="en-US" sz="2000" dirty="0"/>
          </a:p>
        </p:txBody>
      </p:sp>
      <p:sp>
        <p:nvSpPr>
          <p:cNvPr id="17" name="Text 15"/>
          <p:cNvSpPr/>
          <p:nvPr/>
        </p:nvSpPr>
        <p:spPr>
          <a:xfrm>
            <a:off x="9592270" y="2104330"/>
            <a:ext cx="165348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Anotar la alerta en otro archivo, o no anotarla</a:t>
            </a:r>
            <a:endParaRPr lang="en-US" sz="1400" dirty="0"/>
          </a:p>
        </p:txBody>
      </p:sp>
      <p:sp>
        <p:nvSpPr>
          <p:cNvPr id="18" name="Text 16"/>
          <p:cNvSpPr/>
          <p:nvPr/>
        </p:nvSpPr>
        <p:spPr>
          <a:xfrm>
            <a:off x="812800" y="3237111"/>
            <a:ext cx="1088339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B45309"/>
                </a:solidFill>
                <a:latin typeface="DM Sans" pitchFamily="34" charset="0"/>
                <a:ea typeface="DM Sans" pitchFamily="34" charset="-122"/>
                <a:cs typeface="DM Sans" pitchFamily="34" charset="-120"/>
              </a:rPr>
              <a:t>Dónde aparecen los problemas</a:t>
            </a:r>
            <a:endParaRPr lang="en-US" sz="1800" dirty="0"/>
          </a:p>
        </p:txBody>
      </p:sp>
      <p:sp>
        <p:nvSpPr>
          <p:cNvPr id="19" name="Text 17"/>
          <p:cNvSpPr/>
          <p:nvPr/>
        </p:nvSpPr>
        <p:spPr>
          <a:xfrm>
            <a:off x="81280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Tarea repetitiva:</a:t>
            </a:r>
            <a:r>
              <a:rPr lang="en-US" sz="1400" dirty="0">
                <a:solidFill>
                  <a:srgbClr val="1B2430"/>
                </a:solidFill>
                <a:latin typeface="DM Sans" pitchFamily="34" charset="0"/>
                <a:ea typeface="DM Sans" pitchFamily="34" charset="-122"/>
                <a:cs typeface="DM Sans" pitchFamily="34" charset="-120"/>
              </a:rPr>
              <a:t> se hace producto por producto.</a:t>
            </a:r>
            <a:endParaRPr lang="en-US" sz="1400" dirty="0"/>
          </a:p>
        </p:txBody>
      </p:sp>
      <p:sp>
        <p:nvSpPr>
          <p:cNvPr id="20" name="Text 18"/>
          <p:cNvSpPr/>
          <p:nvPr/>
        </p:nvSpPr>
        <p:spPr>
          <a:xfrm>
            <a:off x="349885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Errores:</a:t>
            </a:r>
            <a:r>
              <a:rPr lang="en-US" sz="1400" dirty="0">
                <a:solidFill>
                  <a:srgbClr val="1B2430"/>
                </a:solidFill>
                <a:latin typeface="DM Sans" pitchFamily="34" charset="0"/>
                <a:ea typeface="DM Sans" pitchFamily="34" charset="-122"/>
                <a:cs typeface="DM Sans" pitchFamily="34" charset="-120"/>
              </a:rPr>
              <a:t> la comparación y el cálculo son manuales.</a:t>
            </a:r>
            <a:endParaRPr lang="en-US" sz="1400" dirty="0"/>
          </a:p>
        </p:txBody>
      </p:sp>
      <p:sp>
        <p:nvSpPr>
          <p:cNvPr id="21" name="Text 19"/>
          <p:cNvSpPr/>
          <p:nvPr/>
        </p:nvSpPr>
        <p:spPr>
          <a:xfrm>
            <a:off x="618490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Datos vacíos</a:t>
            </a:r>
            <a:r>
              <a:rPr lang="en-US" sz="1400" dirty="0">
                <a:solidFill>
                  <a:srgbClr val="1B2430"/>
                </a:solidFill>
                <a:latin typeface="DM Sans" pitchFamily="34" charset="0"/>
                <a:ea typeface="DM Sans" pitchFamily="34" charset="-122"/>
                <a:cs typeface="DM Sans" pitchFamily="34" charset="-120"/>
              </a:rPr>
              <a:t> que pasan inadvertidos.</a:t>
            </a:r>
            <a:endParaRPr lang="en-US" sz="1400" dirty="0"/>
          </a:p>
        </p:txBody>
      </p:sp>
      <p:sp>
        <p:nvSpPr>
          <p:cNvPr id="22" name="Text 20"/>
          <p:cNvSpPr/>
          <p:nvPr/>
        </p:nvSpPr>
        <p:spPr>
          <a:xfrm>
            <a:off x="887095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Sin registro:</a:t>
            </a:r>
            <a:r>
              <a:rPr lang="en-US" sz="1400" dirty="0">
                <a:solidFill>
                  <a:srgbClr val="1B2430"/>
                </a:solidFill>
                <a:latin typeface="DM Sans" pitchFamily="34" charset="0"/>
                <a:ea typeface="DM Sans" pitchFamily="34" charset="-122"/>
                <a:cs typeface="DM Sans" pitchFamily="34" charset="-120"/>
              </a:rPr>
              <a:t> alertas olvidadas o repetidas.</a:t>
            </a:r>
            <a:endParaRPr lang="en-US" sz="1400" dirty="0"/>
          </a:p>
        </p:txBody>
      </p:sp>
      <p:sp>
        <p:nvSpPr>
          <p:cNvPr id="23" name="Text 2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4"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Objetivo y alcance de esta versión</a:t>
            </a:r>
            <a:endParaRPr lang="en-US" sz="3200" dirty="0"/>
          </a:p>
        </p:txBody>
      </p:sp>
      <p:sp>
        <p:nvSpPr>
          <p:cNvPr id="3" name="Text 1"/>
          <p:cNvSpPr/>
          <p:nvPr/>
        </p:nvSpPr>
        <p:spPr>
          <a:xfrm>
            <a:off x="812800" y="1488380"/>
            <a:ext cx="10883392" cy="66536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B2430"/>
                </a:solidFill>
                <a:latin typeface="DM Sans" pitchFamily="34" charset="0"/>
                <a:ea typeface="DM Sans" pitchFamily="34" charset="-122"/>
                <a:cs typeface="DM Sans" pitchFamily="34" charset="-120"/>
              </a:rPr>
              <a:t>Al recibir el nombre de un producto, el sistema decide si hay que reponerlo, calcula cuánto falta, registra la alerta sin duplicarla y guarda cualquier fallo técnico.</a:t>
            </a:r>
            <a:endParaRPr lang="en-US" sz="1800" dirty="0"/>
          </a:p>
        </p:txBody>
      </p:sp>
      <p:sp>
        <p:nvSpPr>
          <p:cNvPr id="4" name="Shape 2"/>
          <p:cNvSpPr/>
          <p:nvPr/>
        </p:nvSpPr>
        <p:spPr>
          <a:xfrm>
            <a:off x="812800" y="2356941"/>
            <a:ext cx="5181600" cy="2121892"/>
          </a:xfrm>
          <a:prstGeom prst="roundRect">
            <a:avLst>
              <a:gd name="adj" fmla="val 4788"/>
            </a:avLst>
          </a:prstGeom>
          <a:solidFill>
            <a:srgbClr val="DCEFEC"/>
          </a:solidFill>
          <a:ln/>
        </p:spPr>
      </p:sp>
      <p:sp>
        <p:nvSpPr>
          <p:cNvPr id="5" name="Text 3"/>
          <p:cNvSpPr/>
          <p:nvPr/>
        </p:nvSpPr>
        <p:spPr>
          <a:xfrm>
            <a:off x="1041400" y="2585541"/>
            <a:ext cx="486613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B5B54"/>
                </a:solidFill>
                <a:latin typeface="DM Sans" pitchFamily="34" charset="0"/>
                <a:ea typeface="DM Sans" pitchFamily="34" charset="-122"/>
                <a:cs typeface="DM Sans" pitchFamily="34" charset="-120"/>
              </a:rPr>
              <a:t>Esta versión sí incluye</a:t>
            </a:r>
            <a:endParaRPr lang="en-US" sz="1800" dirty="0"/>
          </a:p>
        </p:txBody>
      </p:sp>
      <p:sp>
        <p:nvSpPr>
          <p:cNvPr id="6" name="Text 4"/>
          <p:cNvSpPr/>
          <p:nvPr/>
        </p:nvSpPr>
        <p:spPr>
          <a:xfrm>
            <a:off x="1125982" y="2961382"/>
            <a:ext cx="4773930" cy="131425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Consulta de un producto por nombre</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Validación de los datos del producto</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Prioridad Alta, Mediana o Baja</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Alerta registrada sin duplicados</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Reintentos y registro de fallos técnicos</a:t>
            </a:r>
            <a:endParaRPr lang="en-US" sz="1400" dirty="0"/>
          </a:p>
        </p:txBody>
      </p:sp>
      <p:sp>
        <p:nvSpPr>
          <p:cNvPr id="7" name="Shape 5"/>
          <p:cNvSpPr/>
          <p:nvPr/>
        </p:nvSpPr>
        <p:spPr>
          <a:xfrm>
            <a:off x="6197600" y="2356941"/>
            <a:ext cx="5181600" cy="2121892"/>
          </a:xfrm>
          <a:prstGeom prst="roundRect">
            <a:avLst>
              <a:gd name="adj" fmla="val 4788"/>
            </a:avLst>
          </a:prstGeom>
          <a:solidFill>
            <a:srgbClr val="FBEBD7"/>
          </a:solidFill>
          <a:ln/>
        </p:spPr>
      </p:sp>
      <p:sp>
        <p:nvSpPr>
          <p:cNvPr id="8" name="Text 6"/>
          <p:cNvSpPr/>
          <p:nvPr/>
        </p:nvSpPr>
        <p:spPr>
          <a:xfrm>
            <a:off x="6426200" y="2585541"/>
            <a:ext cx="486613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A3F06"/>
                </a:solidFill>
                <a:latin typeface="DM Sans" pitchFamily="34" charset="0"/>
                <a:ea typeface="DM Sans" pitchFamily="34" charset="-122"/>
                <a:cs typeface="DM Sans" pitchFamily="34" charset="-120"/>
              </a:rPr>
              <a:t>Todavía no pretende resolver</a:t>
            </a:r>
            <a:endParaRPr lang="en-US" sz="1800" dirty="0"/>
          </a:p>
        </p:txBody>
      </p:sp>
      <p:sp>
        <p:nvSpPr>
          <p:cNvPr id="9" name="Text 7"/>
          <p:cNvSpPr/>
          <p:nvPr/>
        </p:nvSpPr>
        <p:spPr>
          <a:xfrm>
            <a:off x="6510782" y="2961382"/>
            <a:ext cx="4773930" cy="131425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Avisos por correo o chat</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Actualizar el stock o comprar productos</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Revisar todo el inventario de forma programada</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Una pantalla para el usuario</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Inteligencia artificial</a:t>
            </a:r>
            <a:endParaRPr lang="en-US" sz="14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La solución automatizada</a:t>
            </a:r>
            <a:endParaRPr lang="en-US" sz="3200" dirty="0"/>
          </a:p>
        </p:txBody>
      </p:sp>
      <p:sp>
        <p:nvSpPr>
          <p:cNvPr id="3" name="Shape 1"/>
          <p:cNvSpPr/>
          <p:nvPr/>
        </p:nvSpPr>
        <p:spPr>
          <a:xfrm>
            <a:off x="815975" y="1466155"/>
            <a:ext cx="3075484" cy="1417241"/>
          </a:xfrm>
          <a:prstGeom prst="roundRect">
            <a:avLst>
              <a:gd name="adj" fmla="val 6945"/>
            </a:avLst>
          </a:prstGeom>
          <a:solidFill>
            <a:srgbClr val="FFFFFF"/>
          </a:solidFill>
          <a:ln w="6350">
            <a:solidFill>
              <a:srgbClr val="DAD8D0"/>
            </a:solidFill>
            <a:prstDash val="solid"/>
          </a:ln>
        </p:spPr>
      </p:sp>
      <p:sp>
        <p:nvSpPr>
          <p:cNvPr id="4" name="Text 2"/>
          <p:cNvSpPr/>
          <p:nvPr/>
        </p:nvSpPr>
        <p:spPr>
          <a:xfrm>
            <a:off x="996950" y="1647130"/>
            <a:ext cx="279494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Cliente</a:t>
            </a:r>
            <a:endParaRPr lang="en-US" sz="1700" dirty="0"/>
          </a:p>
        </p:txBody>
      </p:sp>
      <p:sp>
        <p:nvSpPr>
          <p:cNvPr id="5" name="Text 3"/>
          <p:cNvSpPr/>
          <p:nvPr/>
        </p:nvSpPr>
        <p:spPr>
          <a:xfrm>
            <a:off x="996950" y="1982391"/>
            <a:ext cx="279494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Un navegador que envía el nombre de un producto en una petición GET.</a:t>
            </a:r>
            <a:endParaRPr lang="en-US" sz="1400" dirty="0"/>
          </a:p>
        </p:txBody>
      </p:sp>
      <p:pic>
        <p:nvPicPr>
          <p:cNvPr id="6" name="Image 0" descr="arrow-right"/>
          <p:cNvPicPr>
            <a:picLocks noChangeAspect="1"/>
          </p:cNvPicPr>
          <p:nvPr/>
        </p:nvPicPr>
        <p:blipFill>
          <a:blip r:embed="rId3"/>
          <a:srcRect/>
          <a:stretch/>
        </p:blipFill>
        <p:spPr>
          <a:xfrm>
            <a:off x="4047034" y="2060476"/>
            <a:ext cx="355600" cy="228600"/>
          </a:xfrm>
          <a:prstGeom prst="rect">
            <a:avLst/>
          </a:prstGeom>
        </p:spPr>
      </p:pic>
      <p:sp>
        <p:nvSpPr>
          <p:cNvPr id="7" name="Shape 4"/>
          <p:cNvSpPr/>
          <p:nvPr/>
        </p:nvSpPr>
        <p:spPr>
          <a:xfrm>
            <a:off x="4558209" y="1466155"/>
            <a:ext cx="3075583" cy="1417241"/>
          </a:xfrm>
          <a:prstGeom prst="roundRect">
            <a:avLst>
              <a:gd name="adj" fmla="val 6945"/>
            </a:avLst>
          </a:prstGeom>
          <a:solidFill>
            <a:srgbClr val="FFFFFF"/>
          </a:solidFill>
          <a:ln w="6350">
            <a:solidFill>
              <a:srgbClr val="DAD8D0"/>
            </a:solidFill>
            <a:prstDash val="solid"/>
          </a:ln>
        </p:spPr>
      </p:sp>
      <p:sp>
        <p:nvSpPr>
          <p:cNvPr id="8" name="Text 5"/>
          <p:cNvSpPr/>
          <p:nvPr/>
        </p:nvSpPr>
        <p:spPr>
          <a:xfrm>
            <a:off x="4739184" y="1647130"/>
            <a:ext cx="279504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n8n</a:t>
            </a:r>
            <a:endParaRPr lang="en-US" sz="1700" dirty="0"/>
          </a:p>
        </p:txBody>
      </p:sp>
      <p:sp>
        <p:nvSpPr>
          <p:cNvPr id="9" name="Text 6"/>
          <p:cNvSpPr/>
          <p:nvPr/>
        </p:nvSpPr>
        <p:spPr>
          <a:xfrm>
            <a:off x="4739184" y="1982391"/>
            <a:ext cx="2795042"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Recibe la petición, consulta, valida, decide y responde.</a:t>
            </a:r>
            <a:endParaRPr lang="en-US" sz="1400" dirty="0"/>
          </a:p>
        </p:txBody>
      </p:sp>
      <p:pic>
        <p:nvPicPr>
          <p:cNvPr id="10" name="Image 1" descr="arrow-right"/>
          <p:cNvPicPr>
            <a:picLocks noChangeAspect="1"/>
          </p:cNvPicPr>
          <p:nvPr/>
        </p:nvPicPr>
        <p:blipFill>
          <a:blip r:embed="rId3"/>
          <a:srcRect/>
          <a:stretch/>
        </p:blipFill>
        <p:spPr>
          <a:xfrm>
            <a:off x="7789366" y="2060476"/>
            <a:ext cx="355600" cy="228600"/>
          </a:xfrm>
          <a:prstGeom prst="rect">
            <a:avLst/>
          </a:prstGeom>
        </p:spPr>
      </p:pic>
      <p:sp>
        <p:nvSpPr>
          <p:cNvPr id="11" name="Shape 7"/>
          <p:cNvSpPr/>
          <p:nvPr/>
        </p:nvSpPr>
        <p:spPr>
          <a:xfrm>
            <a:off x="8300541" y="1466155"/>
            <a:ext cx="3075484" cy="1417241"/>
          </a:xfrm>
          <a:prstGeom prst="roundRect">
            <a:avLst>
              <a:gd name="adj" fmla="val 6945"/>
            </a:avLst>
          </a:prstGeom>
          <a:solidFill>
            <a:srgbClr val="FFFFFF"/>
          </a:solidFill>
          <a:ln w="6350">
            <a:solidFill>
              <a:srgbClr val="DAD8D0"/>
            </a:solidFill>
            <a:prstDash val="solid"/>
          </a:ln>
        </p:spPr>
      </p:sp>
      <p:sp>
        <p:nvSpPr>
          <p:cNvPr id="12" name="Text 8"/>
          <p:cNvSpPr/>
          <p:nvPr/>
        </p:nvSpPr>
        <p:spPr>
          <a:xfrm>
            <a:off x="8481516" y="1647130"/>
            <a:ext cx="279494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Supabase</a:t>
            </a:r>
            <a:endParaRPr lang="en-US" sz="1700" dirty="0"/>
          </a:p>
        </p:txBody>
      </p:sp>
      <p:sp>
        <p:nvSpPr>
          <p:cNvPr id="13" name="Text 9"/>
          <p:cNvSpPr/>
          <p:nvPr/>
        </p:nvSpPr>
        <p:spPr>
          <a:xfrm>
            <a:off x="8481516" y="1982391"/>
            <a:ext cx="279494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Base de datos con el inventario, las alertas y los incidentes.</a:t>
            </a:r>
            <a:endParaRPr lang="en-US" sz="1400" dirty="0"/>
          </a:p>
        </p:txBody>
      </p:sp>
      <p:sp>
        <p:nvSpPr>
          <p:cNvPr id="14" name="Text 10"/>
          <p:cNvSpPr/>
          <p:nvPr/>
        </p:nvSpPr>
        <p:spPr>
          <a:xfrm>
            <a:off x="812800" y="3089771"/>
            <a:ext cx="1088339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430"/>
                </a:solidFill>
                <a:latin typeface="DM Sans" pitchFamily="34" charset="0"/>
                <a:ea typeface="DM Sans" pitchFamily="34" charset="-122"/>
                <a:cs typeface="DM Sans" pitchFamily="34" charset="-120"/>
              </a:rPr>
              <a:t>Términos que aparecen en esta presentación</a:t>
            </a:r>
            <a:endParaRPr lang="en-US" sz="1800" dirty="0"/>
          </a:p>
        </p:txBody>
      </p:sp>
      <p:sp>
        <p:nvSpPr>
          <p:cNvPr id="15" name="Text 11"/>
          <p:cNvSpPr/>
          <p:nvPr/>
        </p:nvSpPr>
        <p:spPr>
          <a:xfrm>
            <a:off x="812800" y="356721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Webhook:</a:t>
            </a:r>
            <a:r>
              <a:rPr lang="en-US" sz="1400" dirty="0">
                <a:solidFill>
                  <a:srgbClr val="1B2430"/>
                </a:solidFill>
                <a:latin typeface="DM Sans" pitchFamily="34" charset="0"/>
                <a:ea typeface="DM Sans" pitchFamily="34" charset="-122"/>
                <a:cs typeface="DM Sans" pitchFamily="34" charset="-120"/>
              </a:rPr>
              <a:t> dirección web que n8n deja escuchando; al llamarla, el flujo se activa.</a:t>
            </a:r>
            <a:endParaRPr lang="en-US" sz="1400" dirty="0"/>
          </a:p>
        </p:txBody>
      </p:sp>
      <p:sp>
        <p:nvSpPr>
          <p:cNvPr id="16" name="Text 12"/>
          <p:cNvSpPr/>
          <p:nvPr/>
        </p:nvSpPr>
        <p:spPr>
          <a:xfrm>
            <a:off x="6159500" y="356721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API:</a:t>
            </a:r>
            <a:r>
              <a:rPr lang="en-US" sz="1400" dirty="0">
                <a:solidFill>
                  <a:srgbClr val="1B2430"/>
                </a:solidFill>
                <a:latin typeface="DM Sans" pitchFamily="34" charset="0"/>
                <a:ea typeface="DM Sans" pitchFamily="34" charset="-122"/>
                <a:cs typeface="DM Sans" pitchFamily="34" charset="-120"/>
              </a:rPr>
              <a:t> forma de pedirle o enviarle datos a otro servicio. Aquí, la de Supabase.</a:t>
            </a:r>
            <a:endParaRPr lang="en-US" sz="1400" dirty="0"/>
          </a:p>
        </p:txBody>
      </p:sp>
      <p:sp>
        <p:nvSpPr>
          <p:cNvPr id="17" name="Text 13"/>
          <p:cNvSpPr/>
          <p:nvPr/>
        </p:nvSpPr>
        <p:spPr>
          <a:xfrm>
            <a:off x="812800" y="445363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HTTP Request:</a:t>
            </a:r>
            <a:r>
              <a:rPr lang="en-US" sz="1400" dirty="0">
                <a:solidFill>
                  <a:srgbClr val="1B2430"/>
                </a:solidFill>
                <a:latin typeface="DM Sans" pitchFamily="34" charset="0"/>
                <a:ea typeface="DM Sans" pitchFamily="34" charset="-122"/>
                <a:cs typeface="DM Sans" pitchFamily="34" charset="-120"/>
              </a:rPr>
              <a:t> nodo de n8n que hace esa llamada para leer o escribir.</a:t>
            </a:r>
            <a:endParaRPr lang="en-US" sz="1400" dirty="0"/>
          </a:p>
        </p:txBody>
      </p:sp>
      <p:sp>
        <p:nvSpPr>
          <p:cNvPr id="18" name="Text 14"/>
          <p:cNvSpPr/>
          <p:nvPr/>
        </p:nvSpPr>
        <p:spPr>
          <a:xfrm>
            <a:off x="6159500" y="445363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Subworkflow:</a:t>
            </a:r>
            <a:r>
              <a:rPr lang="en-US" sz="1400" dirty="0">
                <a:solidFill>
                  <a:srgbClr val="1B2430"/>
                </a:solidFill>
                <a:latin typeface="DM Sans" pitchFamily="34" charset="0"/>
                <a:ea typeface="DM Sans" pitchFamily="34" charset="-122"/>
                <a:cs typeface="DM Sans" pitchFamily="34" charset="-120"/>
              </a:rPr>
              <a:t> flujo pequeño que otro llama; aquí limpia y valida el producto.</a:t>
            </a:r>
            <a:endParaRPr lang="en-US" sz="1400" dirty="0"/>
          </a:p>
        </p:txBody>
      </p:sp>
      <p:sp>
        <p:nvSpPr>
          <p:cNvPr id="19"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Recorrido de un caso completo</a:t>
            </a:r>
            <a:endParaRPr lang="en-US" sz="3200" dirty="0"/>
          </a:p>
        </p:txBody>
      </p:sp>
      <p:sp>
        <p:nvSpPr>
          <p:cNvPr id="3" name="Text 1"/>
          <p:cNvSpPr/>
          <p:nvPr/>
        </p:nvSpPr>
        <p:spPr>
          <a:xfrm>
            <a:off x="812800" y="146298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2430"/>
                </a:solidFill>
                <a:latin typeface="DM Sans" pitchFamily="34" charset="0"/>
                <a:ea typeface="DM Sans" pitchFamily="34" charset="-122"/>
                <a:cs typeface="DM Sans" pitchFamily="34" charset="-120"/>
              </a:rPr>
              <a:t>Entrada con datos ficticios: </a:t>
            </a:r>
            <a:r>
              <a:rPr lang="en-US" sz="1500" b="1" dirty="0">
                <a:solidFill>
                  <a:srgbClr val="0F766E"/>
                </a:solidFill>
                <a:latin typeface="DM Sans" pitchFamily="34" charset="0"/>
                <a:ea typeface="DM Sans" pitchFamily="34" charset="-122"/>
                <a:cs typeface="DM Sans" pitchFamily="34" charset="-120"/>
              </a:rPr>
              <a:t>GET /revisar-stock?producto=Peluche Stitch</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5580"/>
          <a:ext cx="10553700" cy="2577407"/>
        </p:xfrm>
        <a:graphic>
          <a:graphicData uri="http://schemas.openxmlformats.org/drawingml/2006/table">
            <a:tbl>
              <a:tblPr/>
              <a:tblGrid>
                <a:gridCol w="1899666">
                  <a:extLst>
                    <a:ext uri="{9D8B030D-6E8A-4147-A177-3AD203B41FA5}">
                      <a16:colId xmlns:a16="http://schemas.microsoft.com/office/drawing/2014/main" val="20000"/>
                    </a:ext>
                  </a:extLst>
                </a:gridCol>
                <a:gridCol w="8654034">
                  <a:extLst>
                    <a:ext uri="{9D8B030D-6E8A-4147-A177-3AD203B41FA5}">
                      <a16:colId xmlns:a16="http://schemas.microsoft.com/office/drawing/2014/main" val="20001"/>
                    </a:ext>
                  </a:extLst>
                </a:gridCol>
              </a:tblGrid>
              <a:tr h="368201">
                <a:tc>
                  <a:txBody>
                    <a:bodyPr/>
                    <a:lstStyle/>
                    <a:p>
                      <a:pPr marL="0" indent="0">
                        <a:lnSpc>
                          <a:spcPts val="1960"/>
                        </a:lnSpc>
                        <a:buNone/>
                      </a:pPr>
                      <a:r>
                        <a:rPr lang="en-US" sz="1400" b="1" dirty="0">
                          <a:solidFill>
                            <a:srgbClr val="F6F5F1"/>
                          </a:solidFill>
                          <a:latin typeface="DM Sans" pitchFamily="34" charset="0"/>
                          <a:ea typeface="DM Sans" pitchFamily="34" charset="-122"/>
                          <a:cs typeface="DM Sans" pitchFamily="34" charset="-120"/>
                        </a:rPr>
                        <a:t>Paso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960"/>
                        </a:lnSpc>
                        <a:buNone/>
                      </a:pPr>
                      <a:r>
                        <a:rPr lang="en-US" sz="1400" b="1" dirty="0">
                          <a:solidFill>
                            <a:srgbClr val="F6F5F1"/>
                          </a:solidFill>
                          <a:latin typeface="DM Sans" pitchFamily="34" charset="0"/>
                          <a:ea typeface="DM Sans" pitchFamily="34" charset="-122"/>
                          <a:cs typeface="DM Sans" pitchFamily="34" charset="-120"/>
                        </a:rPr>
                        <a:t>Qué ocurre</a:t>
                      </a:r>
                      <a:endParaRPr lang="en-US" sz="1400" dirty="0">
                        <a:latin typeface="DM Sans" charset="0"/>
                        <a:ea typeface="DM Sans" charset="0"/>
                        <a:cs typeface="DM Sans" charset="0"/>
                      </a:endParaRPr>
                    </a:p>
                  </a:txBody>
                  <a:tcPr marL="62230" marR="62230" marT="62230" marB="62230">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1. Entrada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El Webhook recibe producto = Peluche Stitch.</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2. Consulta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HTTP Request lee la tabla: stock 3, stock mínimo 10.</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3. Validación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El subworkflow confirma los datos y los convierte a número.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4. Decisión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Faltante = 10 − 3 = 7. Como 3 es menor que 10, la prioridad es Alta.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4"/>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5. Registro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Se guarda la alerta 1-2026-10-24 en la tabla alertas_reposicion.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5"/>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6. Resultado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Respuesta: Stock crítico, Reponer inmediatamente, alerta_registrada true.</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Resultado real: respuesta y registro</a:t>
            </a:r>
            <a:endParaRPr lang="en-US" sz="3000" dirty="0"/>
          </a:p>
        </p:txBody>
      </p:sp>
      <p:sp>
        <p:nvSpPr>
          <p:cNvPr id="3" name="Text 1"/>
          <p:cNvSpPr/>
          <p:nvPr/>
        </p:nvSpPr>
        <p:spPr>
          <a:xfrm>
            <a:off x="812800" y="1384300"/>
            <a:ext cx="10883392"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Lo que devolvió el flujo:</a:t>
            </a:r>
            <a:r>
              <a:rPr lang="en-US" sz="1400" dirty="0">
                <a:solidFill>
                  <a:srgbClr val="1B2430"/>
                </a:solidFill>
                <a:latin typeface="DM Sans" pitchFamily="34" charset="0"/>
                <a:ea typeface="DM Sans" pitchFamily="34" charset="-122"/>
                <a:cs typeface="DM Sans" pitchFamily="34" charset="-120"/>
              </a:rPr>
              <a:t> faltante 7, prioridad Alta, estado Stock crítico y alerta_registrada true.</a:t>
            </a:r>
            <a:endParaRPr lang="en-US" sz="1400" dirty="0"/>
          </a:p>
        </p:txBody>
      </p:sp>
      <p:sp>
        <p:nvSpPr>
          <p:cNvPr id="4" name="Shape 2"/>
          <p:cNvSpPr/>
          <p:nvPr/>
        </p:nvSpPr>
        <p:spPr>
          <a:xfrm>
            <a:off x="812800" y="1776710"/>
            <a:ext cx="10566400" cy="1593850"/>
          </a:xfrm>
          <a:prstGeom prst="roundRect">
            <a:avLst>
              <a:gd name="adj" fmla="val 3187"/>
            </a:avLst>
          </a:prstGeom>
          <a:solidFill>
            <a:srgbClr val="FFFFFF"/>
          </a:solidFill>
          <a:ln/>
        </p:spPr>
      </p:sp>
      <p:pic>
        <p:nvPicPr>
          <p:cNvPr id="5" name="Image 0" descr="Respuesta del Webhook para Peluche Stitch con alerta_id 1-2026-10-24, faltante 7 y prioridad Alta"/>
          <p:cNvPicPr>
            <a:picLocks noChangeAspect="1"/>
          </p:cNvPicPr>
          <p:nvPr/>
        </p:nvPicPr>
        <p:blipFill>
          <a:blip r:embed="rId3"/>
          <a:srcRect l="-329" r="-329"/>
          <a:stretch/>
        </p:blipFill>
        <p:spPr>
          <a:xfrm>
            <a:off x="819150" y="1783060"/>
            <a:ext cx="10553700" cy="1581150"/>
          </a:xfrm>
          <a:prstGeom prst="roundRect">
            <a:avLst>
              <a:gd name="adj" fmla="val 2811"/>
            </a:avLst>
          </a:prstGeom>
        </p:spPr>
      </p:pic>
      <p:sp>
        <p:nvSpPr>
          <p:cNvPr id="6" name="Shape 3"/>
          <p:cNvSpPr/>
          <p:nvPr/>
        </p:nvSpPr>
        <p:spPr>
          <a:xfrm>
            <a:off x="815975" y="1779885"/>
            <a:ext cx="10560050" cy="1587500"/>
          </a:xfrm>
          <a:prstGeom prst="roundRect">
            <a:avLst>
              <a:gd name="adj" fmla="val 3000"/>
            </a:avLst>
          </a:prstGeom>
          <a:noFill/>
          <a:ln w="6350">
            <a:solidFill>
              <a:srgbClr val="DAD8D0"/>
            </a:solidFill>
            <a:prstDash val="solid"/>
          </a:ln>
        </p:spPr>
      </p:sp>
      <p:sp>
        <p:nvSpPr>
          <p:cNvPr id="7" name="Text 4"/>
          <p:cNvSpPr/>
          <p:nvPr/>
        </p:nvSpPr>
        <p:spPr>
          <a:xfrm>
            <a:off x="812800" y="3522960"/>
            <a:ext cx="10883392"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Lo que quedó guardado en Supabase:</a:t>
            </a:r>
            <a:r>
              <a:rPr lang="en-US" sz="1400" dirty="0">
                <a:solidFill>
                  <a:srgbClr val="1B2430"/>
                </a:solidFill>
                <a:latin typeface="DM Sans" pitchFamily="34" charset="0"/>
                <a:ea typeface="DM Sans" pitchFamily="34" charset="-122"/>
                <a:cs typeface="DM Sans" pitchFamily="34" charset="-120"/>
              </a:rPr>
              <a:t> una fila de Peluche Stitch en la tabla de alertas.</a:t>
            </a:r>
            <a:endParaRPr lang="en-US" sz="1400" dirty="0"/>
          </a:p>
        </p:txBody>
      </p:sp>
      <p:sp>
        <p:nvSpPr>
          <p:cNvPr id="8" name="Shape 5"/>
          <p:cNvSpPr/>
          <p:nvPr/>
        </p:nvSpPr>
        <p:spPr>
          <a:xfrm>
            <a:off x="812800" y="3915370"/>
            <a:ext cx="6985000" cy="1352550"/>
          </a:xfrm>
          <a:prstGeom prst="roundRect">
            <a:avLst>
              <a:gd name="adj" fmla="val 3756"/>
            </a:avLst>
          </a:prstGeom>
          <a:solidFill>
            <a:srgbClr val="FFFFFF"/>
          </a:solidFill>
          <a:ln/>
        </p:spPr>
      </p:sp>
      <p:pic>
        <p:nvPicPr>
          <p:cNvPr id="9" name="Image 1" descr="Tabla alertas_reposicion en Supabase con una fila de Peluche Stitch, stock 3, mínimo 10 y faltante 7"/>
          <p:cNvPicPr>
            <a:picLocks noChangeAspect="1"/>
          </p:cNvPicPr>
          <p:nvPr/>
        </p:nvPicPr>
        <p:blipFill>
          <a:blip r:embed="rId4"/>
          <a:srcRect l="-476" r="-476"/>
          <a:stretch/>
        </p:blipFill>
        <p:spPr>
          <a:xfrm>
            <a:off x="819149" y="3921720"/>
            <a:ext cx="9054077" cy="1739900"/>
          </a:xfrm>
          <a:prstGeom prst="roundRect">
            <a:avLst>
              <a:gd name="adj" fmla="val 3318"/>
            </a:avLst>
          </a:prstGeom>
        </p:spPr>
      </p:pic>
      <p:sp>
        <p:nvSpPr>
          <p:cNvPr id="10" name="Shape 6"/>
          <p:cNvSpPr/>
          <p:nvPr/>
        </p:nvSpPr>
        <p:spPr>
          <a:xfrm>
            <a:off x="815975" y="3918545"/>
            <a:ext cx="6978650" cy="1346200"/>
          </a:xfrm>
          <a:prstGeom prst="roundRect">
            <a:avLst>
              <a:gd name="adj" fmla="val 3538"/>
            </a:avLst>
          </a:prstGeom>
          <a:noFill/>
          <a:ln w="6350">
            <a:solidFill>
              <a:srgbClr val="DAD8D0"/>
            </a:solidFill>
            <a:prstDash val="solid"/>
          </a:ln>
        </p:spPr>
      </p:sp>
      <p:sp>
        <p:nvSpPr>
          <p:cNvPr id="11" name="Text 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2" name="Text 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Integraciones: qué se intercambia con Supabase</a:t>
            </a:r>
            <a:endParaRPr lang="en-US" sz="3200" dirty="0"/>
          </a:p>
        </p:txBody>
      </p:sp>
      <p:sp>
        <p:nvSpPr>
          <p:cNvPr id="3" name="Text 1"/>
          <p:cNvSpPr/>
          <p:nvPr/>
        </p:nvSpPr>
        <p:spPr>
          <a:xfrm>
            <a:off x="812800" y="143758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5606E"/>
                </a:solidFill>
                <a:latin typeface="DM Sans" pitchFamily="34" charset="0"/>
                <a:ea typeface="DM Sans" pitchFamily="34" charset="-122"/>
                <a:cs typeface="DM Sans" pitchFamily="34" charset="-120"/>
              </a:rPr>
              <a:t>Las tres llamadas usan el nodo HTTP Request contra la API de Supabase: </a:t>
            </a:r>
            <a:r>
              <a:rPr lang="en-US" sz="1300" dirty="0">
                <a:solidFill>
                  <a:srgbClr val="0F766E"/>
                </a:solidFill>
                <a:latin typeface="DM Sans" pitchFamily="34" charset="0"/>
                <a:ea typeface="DM Sans" pitchFamily="34" charset="-122"/>
                <a:cs typeface="DM Sans" pitchFamily="34" charset="-120"/>
              </a:rPr>
              <a:t>https://&lt;PROYECTO&gt;.supabase.co/rest/v1/&lt;tabla&gt;</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59161"/>
          <a:ext cx="10553700" cy="1591204"/>
        </p:xfrm>
        <a:graphic>
          <a:graphicData uri="http://schemas.openxmlformats.org/drawingml/2006/table">
            <a:tbl>
              <a:tblPr/>
              <a:tblGrid>
                <a:gridCol w="2321814">
                  <a:extLst>
                    <a:ext uri="{9D8B030D-6E8A-4147-A177-3AD203B41FA5}">
                      <a16:colId xmlns:a16="http://schemas.microsoft.com/office/drawing/2014/main" val="20000"/>
                    </a:ext>
                  </a:extLst>
                </a:gridCol>
                <a:gridCol w="1055370">
                  <a:extLst>
                    <a:ext uri="{9D8B030D-6E8A-4147-A177-3AD203B41FA5}">
                      <a16:colId xmlns:a16="http://schemas.microsoft.com/office/drawing/2014/main" val="20001"/>
                    </a:ext>
                  </a:extLst>
                </a:gridCol>
                <a:gridCol w="4010406">
                  <a:extLst>
                    <a:ext uri="{9D8B030D-6E8A-4147-A177-3AD203B41FA5}">
                      <a16:colId xmlns:a16="http://schemas.microsoft.com/office/drawing/2014/main" val="20002"/>
                    </a:ext>
                  </a:extLst>
                </a:gridCol>
                <a:gridCol w="3166110">
                  <a:extLst>
                    <a:ext uri="{9D8B030D-6E8A-4147-A177-3AD203B41FA5}">
                      <a16:colId xmlns:a16="http://schemas.microsoft.com/office/drawing/2014/main" val="20003"/>
                    </a:ext>
                  </a:extLst>
                </a:gridCol>
              </a:tblGrid>
              <a:tr h="342801">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Para qué</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Método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Qué se envía</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Qué se recibe</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55741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Leer el inventario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GET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producto=ilike.*texto* (búsqueda parcial)</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Filas con id, producto, stock y stock_minimo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Registrar la alerta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POST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 de la alerta y on_conflict=alerta_id</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La alerta creada o actualizada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Registrar el incidente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POST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 del fallo y on_conflict=ejecucion_id</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El incidente guardado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812800" y="3622774"/>
            <a:ext cx="10566400" cy="802481"/>
          </a:xfrm>
          <a:prstGeom prst="roundRect">
            <a:avLst>
              <a:gd name="adj" fmla="val 12661"/>
            </a:avLst>
          </a:prstGeom>
          <a:solidFill>
            <a:srgbClr val="DCEFEC"/>
          </a:solidFill>
          <a:ln/>
        </p:spPr>
        <p:txBody>
          <a:bodyPr wrap="square" lIns="173442" tIns="122642" rIns="0" bIns="97242" rtlCol="0" anchor="t">
            <a:normAutofit/>
          </a:bodyPr>
          <a:lstStyle/>
          <a:p>
            <a:pPr marL="0" indent="0" algn="l">
              <a:lnSpc>
                <a:spcPts val="1960"/>
              </a:lnSpc>
              <a:buNone/>
            </a:pPr>
            <a:r>
              <a:rPr lang="en-US" sz="1400" b="1" dirty="0">
                <a:solidFill>
                  <a:srgbClr val="1B2430"/>
                </a:solidFill>
                <a:latin typeface="DM Sans" pitchFamily="34" charset="0"/>
                <a:ea typeface="DM Sans" pitchFamily="34" charset="-122"/>
                <a:cs typeface="DM Sans" pitchFamily="34" charset="-120"/>
              </a:rPr>
              <a:t>Credenciales:</a:t>
            </a:r>
            <a:r>
              <a:rPr lang="en-US" sz="1400" dirty="0">
                <a:solidFill>
                  <a:srgbClr val="1B2430"/>
                </a:solidFill>
                <a:latin typeface="DM Sans" pitchFamily="34" charset="0"/>
                <a:ea typeface="DM Sans" pitchFamily="34" charset="-122"/>
                <a:cs typeface="DM Sans" pitchFamily="34" charset="-120"/>
              </a:rPr>
              <a:t> una sola credencial Supabase API en n8n. Sus valores no se publican en el repositorio; cada persona crea la suya.</a:t>
            </a:r>
            <a:endParaRPr lang="en-US" sz="14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Organización de los workflows</a:t>
            </a:r>
            <a:endParaRPr lang="en-US" sz="3200" dirty="0"/>
          </a:p>
        </p:txBody>
      </p:sp>
      <p:sp>
        <p:nvSpPr>
          <p:cNvPr id="3" name="Shape 1"/>
          <p:cNvSpPr/>
          <p:nvPr/>
        </p:nvSpPr>
        <p:spPr>
          <a:xfrm>
            <a:off x="815975" y="1440755"/>
            <a:ext cx="3397250" cy="2464594"/>
          </a:xfrm>
          <a:prstGeom prst="roundRect">
            <a:avLst>
              <a:gd name="adj" fmla="val 3994"/>
            </a:avLst>
          </a:prstGeom>
          <a:solidFill>
            <a:srgbClr val="FFFFFF"/>
          </a:solidFill>
          <a:ln w="6350">
            <a:solidFill>
              <a:srgbClr val="DAD8D0"/>
            </a:solidFill>
            <a:prstDash val="solid"/>
          </a:ln>
        </p:spPr>
      </p:sp>
      <p:sp>
        <p:nvSpPr>
          <p:cNvPr id="4" name="Text 2"/>
          <p:cNvSpPr/>
          <p:nvPr/>
        </p:nvSpPr>
        <p:spPr>
          <a:xfrm>
            <a:off x="996950" y="1621730"/>
            <a:ext cx="3126359"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Principal - Revisión de stock</a:t>
            </a:r>
            <a:endParaRPr lang="en-US" sz="1600" dirty="0"/>
          </a:p>
        </p:txBody>
      </p:sp>
      <p:sp>
        <p:nvSpPr>
          <p:cNvPr id="5" name="Text 3"/>
          <p:cNvSpPr/>
          <p:nvPr/>
        </p:nvSpPr>
        <p:spPr>
          <a:xfrm>
            <a:off x="996950" y="1941711"/>
            <a:ext cx="3126359"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Recibe la petición por el Webhook, consulta, decide la ruta, registra la alerta y responde.</a:t>
            </a:r>
            <a:endParaRPr lang="en-US" sz="1300" dirty="0"/>
          </a:p>
        </p:txBody>
      </p:sp>
      <p:sp>
        <p:nvSpPr>
          <p:cNvPr id="6" name="Text 4"/>
          <p:cNvSpPr/>
          <p:nvPr/>
        </p:nvSpPr>
        <p:spPr>
          <a:xfrm>
            <a:off x="996950" y="271115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una petición con el nombre del producto.</a:t>
            </a:r>
            <a:endParaRPr lang="en-US" sz="1300" dirty="0"/>
          </a:p>
        </p:txBody>
      </p:sp>
      <p:sp>
        <p:nvSpPr>
          <p:cNvPr id="7" name="Text 5"/>
          <p:cNvSpPr/>
          <p:nvPr/>
        </p:nvSpPr>
        <p:spPr>
          <a:xfrm>
            <a:off x="996950" y="324951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una lista JSON con el resultado.</a:t>
            </a:r>
            <a:endParaRPr lang="en-US" sz="1300" dirty="0"/>
          </a:p>
        </p:txBody>
      </p:sp>
      <p:sp>
        <p:nvSpPr>
          <p:cNvPr id="8" name="Shape 6"/>
          <p:cNvSpPr/>
          <p:nvPr/>
        </p:nvSpPr>
        <p:spPr>
          <a:xfrm>
            <a:off x="4397375" y="1440755"/>
            <a:ext cx="3397250" cy="2464594"/>
          </a:xfrm>
          <a:prstGeom prst="roundRect">
            <a:avLst>
              <a:gd name="adj" fmla="val 3994"/>
            </a:avLst>
          </a:prstGeom>
          <a:solidFill>
            <a:srgbClr val="FFFFFF"/>
          </a:solidFill>
          <a:ln w="6350">
            <a:solidFill>
              <a:srgbClr val="DAD8D0"/>
            </a:solidFill>
            <a:prstDash val="solid"/>
          </a:ln>
        </p:spPr>
      </p:sp>
      <p:sp>
        <p:nvSpPr>
          <p:cNvPr id="9" name="Text 7"/>
          <p:cNvSpPr/>
          <p:nvPr/>
        </p:nvSpPr>
        <p:spPr>
          <a:xfrm>
            <a:off x="4578350" y="1621730"/>
            <a:ext cx="3126359" cy="512961"/>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Preparar producto (subworkflow)</a:t>
            </a:r>
            <a:endParaRPr lang="en-US" sz="1600" dirty="0"/>
          </a:p>
        </p:txBody>
      </p:sp>
      <p:sp>
        <p:nvSpPr>
          <p:cNvPr id="10" name="Text 8"/>
          <p:cNvSpPr/>
          <p:nvPr/>
        </p:nvSpPr>
        <p:spPr>
          <a:xfrm>
            <a:off x="4578350" y="2185491"/>
            <a:ext cx="3126359"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Limpia y valida un producto. Se reutiliza cada vez que el principal lo llama.</a:t>
            </a:r>
            <a:endParaRPr lang="en-US" sz="1300" dirty="0"/>
          </a:p>
        </p:txBody>
      </p:sp>
      <p:sp>
        <p:nvSpPr>
          <p:cNvPr id="11" name="Text 9"/>
          <p:cNvSpPr/>
          <p:nvPr/>
        </p:nvSpPr>
        <p:spPr>
          <a:xfrm>
            <a:off x="4578350" y="272385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id, producto, stock y stock_minimo.</a:t>
            </a:r>
            <a:endParaRPr lang="en-US" sz="1300" dirty="0"/>
          </a:p>
        </p:txBody>
      </p:sp>
      <p:sp>
        <p:nvSpPr>
          <p:cNvPr id="12" name="Text 10"/>
          <p:cNvSpPr/>
          <p:nvPr/>
        </p:nvSpPr>
        <p:spPr>
          <a:xfrm>
            <a:off x="4578350" y="326221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esos campos limpios, más datos_validos y motivo.</a:t>
            </a:r>
            <a:endParaRPr lang="en-US" sz="1300" dirty="0"/>
          </a:p>
        </p:txBody>
      </p:sp>
      <p:sp>
        <p:nvSpPr>
          <p:cNvPr id="13" name="Shape 11"/>
          <p:cNvSpPr/>
          <p:nvPr/>
        </p:nvSpPr>
        <p:spPr>
          <a:xfrm>
            <a:off x="7978775" y="1440755"/>
            <a:ext cx="3397250" cy="2464594"/>
          </a:xfrm>
          <a:prstGeom prst="roundRect">
            <a:avLst>
              <a:gd name="adj" fmla="val 3994"/>
            </a:avLst>
          </a:prstGeom>
          <a:solidFill>
            <a:srgbClr val="FFFFFF"/>
          </a:solidFill>
          <a:ln w="6350">
            <a:solidFill>
              <a:srgbClr val="DAD8D0"/>
            </a:solidFill>
            <a:prstDash val="solid"/>
          </a:ln>
        </p:spPr>
      </p:sp>
      <p:sp>
        <p:nvSpPr>
          <p:cNvPr id="14" name="Text 12"/>
          <p:cNvSpPr/>
          <p:nvPr/>
        </p:nvSpPr>
        <p:spPr>
          <a:xfrm>
            <a:off x="8159750" y="1621730"/>
            <a:ext cx="3126359"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DM Sans" pitchFamily="34" charset="0"/>
                <a:ea typeface="DM Sans" pitchFamily="34" charset="-122"/>
                <a:cs typeface="DM Sans" pitchFamily="34" charset="-120"/>
              </a:rPr>
              <a:t>Manejador de errores</a:t>
            </a:r>
            <a:endParaRPr lang="en-US" sz="1600" dirty="0"/>
          </a:p>
        </p:txBody>
      </p:sp>
      <p:sp>
        <p:nvSpPr>
          <p:cNvPr id="15" name="Text 13"/>
          <p:cNvSpPr/>
          <p:nvPr/>
        </p:nvSpPr>
        <p:spPr>
          <a:xfrm>
            <a:off x="8159750" y="1941711"/>
            <a:ext cx="3126359"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Se activa solo cuando falla una ejecución automática del principal.</a:t>
            </a:r>
            <a:endParaRPr lang="en-US" sz="1300" dirty="0"/>
          </a:p>
        </p:txBody>
      </p:sp>
      <p:sp>
        <p:nvSpPr>
          <p:cNvPr id="16" name="Text 14"/>
          <p:cNvSpPr/>
          <p:nvPr/>
        </p:nvSpPr>
        <p:spPr>
          <a:xfrm>
            <a:off x="8159750" y="248007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el aviso del error que genera n8n.</a:t>
            </a:r>
            <a:endParaRPr lang="en-US" sz="1300" dirty="0"/>
          </a:p>
        </p:txBody>
      </p:sp>
      <p:sp>
        <p:nvSpPr>
          <p:cNvPr id="17" name="Text 15"/>
          <p:cNvSpPr/>
          <p:nvPr/>
        </p:nvSpPr>
        <p:spPr>
          <a:xfrm>
            <a:off x="8159750" y="301843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una fila en la tabla incidentes.</a:t>
            </a:r>
            <a:endParaRPr lang="en-US" sz="1300" dirty="0"/>
          </a:p>
        </p:txBody>
      </p:sp>
      <p:sp>
        <p:nvSpPr>
          <p:cNvPr id="18" name="Text 16"/>
          <p:cNvSpPr/>
          <p:nvPr/>
        </p:nvSpPr>
        <p:spPr>
          <a:xfrm>
            <a:off x="812800" y="4086324"/>
            <a:ext cx="10566400" cy="553641"/>
          </a:xfrm>
          <a:prstGeom prst="roundRect">
            <a:avLst>
              <a:gd name="adj" fmla="val 18351"/>
            </a:avLst>
          </a:prstGeom>
          <a:solidFill>
            <a:srgbClr val="DCEFEC"/>
          </a:solidFill>
          <a:ln/>
        </p:spPr>
        <p:txBody>
          <a:bodyPr wrap="square" lIns="173442" tIns="122642" rIns="0" bIns="97242"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El principal llama al subworkflow en cada consulta. Si el principal falla, n8n activa el manejador.</a:t>
            </a:r>
            <a:endParaRPr lang="en-US" sz="1400" dirty="0"/>
          </a:p>
        </p:txBody>
      </p:sp>
      <p:sp>
        <p:nvSpPr>
          <p:cNvPr id="19" name="Text 1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Validaciones y errores: dos situaciones distintas</a:t>
            </a:r>
            <a:endParaRPr lang="en-US" sz="3000" dirty="0"/>
          </a:p>
        </p:txBody>
      </p:sp>
      <p:sp>
        <p:nvSpPr>
          <p:cNvPr id="3" name="Shape 1"/>
          <p:cNvSpPr/>
          <p:nvPr/>
        </p:nvSpPr>
        <p:spPr>
          <a:xfrm>
            <a:off x="812800" y="1384300"/>
            <a:ext cx="5194300" cy="1650702"/>
          </a:xfrm>
          <a:prstGeom prst="roundRect">
            <a:avLst>
              <a:gd name="adj" fmla="val 6155"/>
            </a:avLst>
          </a:prstGeom>
          <a:solidFill>
            <a:srgbClr val="DCEFEC"/>
          </a:solidFill>
          <a:ln/>
        </p:spPr>
      </p:sp>
      <p:sp>
        <p:nvSpPr>
          <p:cNvPr id="4" name="Text 2"/>
          <p:cNvSpPr/>
          <p:nvPr/>
        </p:nvSpPr>
        <p:spPr>
          <a:xfrm>
            <a:off x="990600" y="1562100"/>
            <a:ext cx="498386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B5B54"/>
                </a:solidFill>
                <a:latin typeface="DM Sans" pitchFamily="34" charset="0"/>
                <a:ea typeface="DM Sans" pitchFamily="34" charset="-122"/>
                <a:cs typeface="DM Sans" pitchFamily="34" charset="-120"/>
              </a:rPr>
              <a:t>Respuesta del negocio (el flujo funcionó)</a:t>
            </a:r>
            <a:endParaRPr lang="en-US" sz="1600" dirty="0"/>
          </a:p>
        </p:txBody>
      </p:sp>
      <p:sp>
        <p:nvSpPr>
          <p:cNvPr id="5" name="Text 3"/>
          <p:cNvSpPr/>
          <p:nvPr/>
        </p:nvSpPr>
        <p:spPr>
          <a:xfrm>
            <a:off x="990600" y="1869380"/>
            <a:ext cx="4983861"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Producto no encontrado:</a:t>
            </a:r>
            <a:r>
              <a:rPr lang="en-US" sz="1300" dirty="0">
                <a:solidFill>
                  <a:srgbClr val="1B2430"/>
                </a:solidFill>
                <a:latin typeface="DM Sans" pitchFamily="34" charset="0"/>
                <a:ea typeface="DM Sans" pitchFamily="34" charset="-122"/>
                <a:cs typeface="DM Sans" pitchFamily="34" charset="-120"/>
              </a:rPr>
              <a:t> la consulta no halló coincidencias.</a:t>
            </a:r>
            <a:endParaRPr lang="en-US" sz="1300" dirty="0"/>
          </a:p>
        </p:txBody>
      </p:sp>
      <p:sp>
        <p:nvSpPr>
          <p:cNvPr id="6" name="Text 4"/>
          <p:cNvSpPr/>
          <p:nvPr/>
        </p:nvSpPr>
        <p:spPr>
          <a:xfrm>
            <a:off x="990600" y="2163961"/>
            <a:ext cx="4983861"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Datos no válidos:</a:t>
            </a:r>
            <a:r>
              <a:rPr lang="en-US" sz="1300" dirty="0">
                <a:solidFill>
                  <a:srgbClr val="1B2430"/>
                </a:solidFill>
                <a:latin typeface="DM Sans" pitchFamily="34" charset="0"/>
                <a:ea typeface="DM Sans" pitchFamily="34" charset="-122"/>
                <a:cs typeface="DM Sans" pitchFamily="34" charset="-120"/>
              </a:rPr>
              <a:t> el stock está vacío o es negativo; se indica el motivo y no se escribe nada.</a:t>
            </a:r>
            <a:endParaRPr lang="en-US" sz="1300" dirty="0"/>
          </a:p>
        </p:txBody>
      </p:sp>
      <p:sp>
        <p:nvSpPr>
          <p:cNvPr id="7" name="Shape 5"/>
          <p:cNvSpPr/>
          <p:nvPr/>
        </p:nvSpPr>
        <p:spPr>
          <a:xfrm>
            <a:off x="6184900" y="1384300"/>
            <a:ext cx="5194300" cy="1650702"/>
          </a:xfrm>
          <a:prstGeom prst="roundRect">
            <a:avLst>
              <a:gd name="adj" fmla="val 6155"/>
            </a:avLst>
          </a:prstGeom>
          <a:solidFill>
            <a:srgbClr val="FBEBD7"/>
          </a:solidFill>
          <a:ln/>
        </p:spPr>
      </p:sp>
      <p:sp>
        <p:nvSpPr>
          <p:cNvPr id="8" name="Text 6"/>
          <p:cNvSpPr/>
          <p:nvPr/>
        </p:nvSpPr>
        <p:spPr>
          <a:xfrm>
            <a:off x="6362700" y="1562100"/>
            <a:ext cx="498386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8A3F06"/>
                </a:solidFill>
                <a:latin typeface="DM Sans" pitchFamily="34" charset="0"/>
                <a:ea typeface="DM Sans" pitchFamily="34" charset="-122"/>
                <a:cs typeface="DM Sans" pitchFamily="34" charset="-120"/>
              </a:rPr>
              <a:t>Error técnico (algo falló)</a:t>
            </a:r>
            <a:endParaRPr lang="en-US" sz="1600" dirty="0"/>
          </a:p>
        </p:txBody>
      </p:sp>
      <p:sp>
        <p:nvSpPr>
          <p:cNvPr id="9" name="Text 7"/>
          <p:cNvSpPr/>
          <p:nvPr/>
        </p:nvSpPr>
        <p:spPr>
          <a:xfrm>
            <a:off x="6362700" y="1869380"/>
            <a:ext cx="4983861"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Por ejemplo, Supabase no encuentra la tabla. El nodo reintenta 3 veces, con 2 segundos entre intentos.</a:t>
            </a:r>
            <a:endParaRPr lang="en-US" sz="1300" dirty="0"/>
          </a:p>
        </p:txBody>
      </p:sp>
      <p:sp>
        <p:nvSpPr>
          <p:cNvPr id="10" name="Text 8"/>
          <p:cNvSpPr/>
          <p:nvPr/>
        </p:nvSpPr>
        <p:spPr>
          <a:xfrm>
            <a:off x="6362700" y="2395041"/>
            <a:ext cx="4983861"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Si sigue fallando, el manejador guarda un incidente. No envía ninguna notificación.</a:t>
            </a:r>
            <a:endParaRPr lang="en-US" sz="1300" dirty="0"/>
          </a:p>
        </p:txBody>
      </p:sp>
      <p:sp>
        <p:nvSpPr>
          <p:cNvPr id="11" name="Text 9"/>
          <p:cNvSpPr/>
          <p:nvPr/>
        </p:nvSpPr>
        <p:spPr>
          <a:xfrm>
            <a:off x="812800" y="3187402"/>
            <a:ext cx="5350129"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Prueba:</a:t>
            </a:r>
            <a:r>
              <a:rPr lang="en-US" sz="1300" dirty="0">
                <a:solidFill>
                  <a:srgbClr val="1B2430"/>
                </a:solidFill>
                <a:latin typeface="DM Sans" pitchFamily="34" charset="0"/>
                <a:ea typeface="DM Sans" pitchFamily="34" charset="-122"/>
                <a:cs typeface="DM Sans" pitchFamily="34" charset="-120"/>
              </a:rPr>
              <a:t> producto=zzzz devuelve «Producto no encontrado».</a:t>
            </a:r>
            <a:endParaRPr lang="en-US" sz="1300" dirty="0"/>
          </a:p>
        </p:txBody>
      </p:sp>
      <p:sp>
        <p:nvSpPr>
          <p:cNvPr id="12" name="Shape 10"/>
          <p:cNvSpPr/>
          <p:nvPr/>
        </p:nvSpPr>
        <p:spPr>
          <a:xfrm>
            <a:off x="812800" y="3461048"/>
            <a:ext cx="5194300" cy="850900"/>
          </a:xfrm>
          <a:prstGeom prst="roundRect">
            <a:avLst>
              <a:gd name="adj" fmla="val 5970"/>
            </a:avLst>
          </a:prstGeom>
          <a:solidFill>
            <a:srgbClr val="FFFFFF"/>
          </a:solidFill>
          <a:ln/>
        </p:spPr>
      </p:sp>
      <p:pic>
        <p:nvPicPr>
          <p:cNvPr id="13" name="Image 0" descr="Respuesta del flujo para un producto inexistente: Estado Producto no encontrado, Acción Revise el nombre del producto"/>
          <p:cNvPicPr>
            <a:picLocks noChangeAspect="1"/>
          </p:cNvPicPr>
          <p:nvPr/>
        </p:nvPicPr>
        <p:blipFill>
          <a:blip r:embed="rId3"/>
          <a:stretch>
            <a:fillRect/>
          </a:stretch>
        </p:blipFill>
        <p:spPr>
          <a:xfrm>
            <a:off x="856900" y="3467398"/>
            <a:ext cx="5106099" cy="838200"/>
          </a:xfrm>
          <a:custGeom>
            <a:avLst/>
            <a:gdLst/>
            <a:ahLst/>
            <a:cxnLst/>
            <a:rect l="l" t="t" r="r" b="b"/>
            <a:pathLst>
              <a:path w="5106099" h="838200">
                <a:moveTo>
                  <a:pt x="0" y="508"/>
                </a:moveTo>
                <a:arcTo wR="44450" hR="44450" stAng="15679878" swAng="520122"/>
                <a:lnTo>
                  <a:pt x="5099400" y="0"/>
                </a:lnTo>
                <a:arcTo wR="44450" hR="44450" stAng="16200000" swAng="520122"/>
                <a:lnTo>
                  <a:pt x="5106099" y="837692"/>
                </a:lnTo>
                <a:arcTo wR="44450" hR="44450" stAng="4879878" swAng="520122"/>
                <a:lnTo>
                  <a:pt x="6700" y="838200"/>
                </a:lnTo>
                <a:arcTo wR="44450" hR="44450" stAng="5400000" swAng="520122"/>
                <a:close/>
              </a:path>
            </a:pathLst>
          </a:custGeom>
        </p:spPr>
      </p:pic>
      <p:sp>
        <p:nvSpPr>
          <p:cNvPr id="14" name="Shape 11"/>
          <p:cNvSpPr/>
          <p:nvPr/>
        </p:nvSpPr>
        <p:spPr>
          <a:xfrm>
            <a:off x="815975" y="3464223"/>
            <a:ext cx="5187950" cy="844550"/>
          </a:xfrm>
          <a:prstGeom prst="roundRect">
            <a:avLst>
              <a:gd name="adj" fmla="val 5639"/>
            </a:avLst>
          </a:prstGeom>
          <a:noFill/>
          <a:ln w="6350">
            <a:solidFill>
              <a:srgbClr val="DAD8D0"/>
            </a:solidFill>
            <a:prstDash val="solid"/>
          </a:ln>
        </p:spPr>
      </p:sp>
      <p:sp>
        <p:nvSpPr>
          <p:cNvPr id="15" name="Text 12"/>
          <p:cNvSpPr/>
          <p:nvPr/>
        </p:nvSpPr>
        <p:spPr>
          <a:xfrm>
            <a:off x="6184900" y="3187402"/>
            <a:ext cx="6007100"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Prueba:</a:t>
            </a:r>
            <a:r>
              <a:rPr lang="en-US" sz="1300" dirty="0">
                <a:solidFill>
                  <a:srgbClr val="1B2430"/>
                </a:solidFill>
                <a:latin typeface="DM Sans" pitchFamily="34" charset="0"/>
                <a:ea typeface="DM Sans" pitchFamily="34" charset="-122"/>
                <a:cs typeface="DM Sans" pitchFamily="34" charset="-120"/>
              </a:rPr>
              <a:t> un producto con stock vacío devuelve datos_validos false.</a:t>
            </a:r>
            <a:endParaRPr lang="en-US" sz="1300" dirty="0"/>
          </a:p>
        </p:txBody>
      </p:sp>
      <p:sp>
        <p:nvSpPr>
          <p:cNvPr id="16" name="Shape 13"/>
          <p:cNvSpPr/>
          <p:nvPr/>
        </p:nvSpPr>
        <p:spPr>
          <a:xfrm>
            <a:off x="6184900" y="3461048"/>
            <a:ext cx="5194300" cy="857250"/>
          </a:xfrm>
          <a:prstGeom prst="roundRect">
            <a:avLst>
              <a:gd name="adj" fmla="val 5926"/>
            </a:avLst>
          </a:prstGeom>
          <a:solidFill>
            <a:srgbClr val="FFFFFF"/>
          </a:solidFill>
          <a:ln/>
        </p:spPr>
      </p:sp>
      <p:pic>
        <p:nvPicPr>
          <p:cNvPr id="17" name="Image 1" descr="Respuesta del flujo con stock null, datos_validos false y motivo stock no válido"/>
          <p:cNvPicPr>
            <a:picLocks noChangeAspect="1"/>
          </p:cNvPicPr>
          <p:nvPr/>
        </p:nvPicPr>
        <p:blipFill>
          <a:blip r:embed="rId4"/>
          <a:srcRect l="-489" r="-489"/>
          <a:stretch/>
        </p:blipFill>
        <p:spPr>
          <a:xfrm>
            <a:off x="6191250" y="3467398"/>
            <a:ext cx="5181600" cy="844550"/>
          </a:xfrm>
          <a:prstGeom prst="roundRect">
            <a:avLst>
              <a:gd name="adj" fmla="val 5263"/>
            </a:avLst>
          </a:prstGeom>
        </p:spPr>
      </p:pic>
      <p:sp>
        <p:nvSpPr>
          <p:cNvPr id="18" name="Shape 14"/>
          <p:cNvSpPr/>
          <p:nvPr/>
        </p:nvSpPr>
        <p:spPr>
          <a:xfrm>
            <a:off x="6188075" y="3464223"/>
            <a:ext cx="5187950" cy="850900"/>
          </a:xfrm>
          <a:prstGeom prst="roundRect">
            <a:avLst>
              <a:gd name="adj" fmla="val 5597"/>
            </a:avLst>
          </a:prstGeom>
          <a:noFill/>
          <a:ln w="6350">
            <a:solidFill>
              <a:srgbClr val="DAD8D0"/>
            </a:solidFill>
            <a:prstDash val="solid"/>
          </a:ln>
        </p:spPr>
      </p:sp>
      <p:sp>
        <p:nvSpPr>
          <p:cNvPr id="19"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Fallo técnico controlado y recuperación</a:t>
            </a:r>
            <a:endParaRPr lang="en-US" sz="3000" dirty="0"/>
          </a:p>
        </p:txBody>
      </p:sp>
      <p:sp>
        <p:nvSpPr>
          <p:cNvPr id="3" name="Text 1"/>
          <p:cNvSpPr/>
          <p:nvPr/>
        </p:nvSpPr>
        <p:spPr>
          <a:xfrm>
            <a:off x="815975" y="1387475"/>
            <a:ext cx="5149850" cy="706041"/>
          </a:xfrm>
          <a:prstGeom prst="roundRect">
            <a:avLst>
              <a:gd name="adj" fmla="val 12142"/>
            </a:avLst>
          </a:prstGeom>
          <a:solidFill>
            <a:srgbClr val="FFFFFF"/>
          </a:solidFill>
          <a:ln w="6350">
            <a:solidFill>
              <a:srgbClr val="DAD8D0"/>
            </a:solidFill>
            <a:prstDash val="solid"/>
          </a:ln>
        </p:spPr>
        <p:txBody>
          <a:bodyPr wrap="square" lIns="143167" tIns="105067" rIns="0" bIns="79667"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Cómo se provocó:</a:t>
            </a:r>
            <a:r>
              <a:rPr lang="en-US" sz="1300" dirty="0">
                <a:solidFill>
                  <a:srgbClr val="1B2430"/>
                </a:solidFill>
                <a:latin typeface="DM Sans" pitchFamily="34" charset="0"/>
                <a:ea typeface="DM Sans" pitchFamily="34" charset="-122"/>
                <a:cs typeface="DM Sans" pitchFamily="34" charset="-120"/>
              </a:rPr>
              <a:t> se cambió la URL de escritura a una tabla que no existe y se llamó al flujo publicado.</a:t>
            </a:r>
            <a:endParaRPr lang="en-US" sz="1300" dirty="0"/>
          </a:p>
        </p:txBody>
      </p:sp>
      <p:sp>
        <p:nvSpPr>
          <p:cNvPr id="4" name="Text 2"/>
          <p:cNvSpPr/>
          <p:nvPr/>
        </p:nvSpPr>
        <p:spPr>
          <a:xfrm>
            <a:off x="812800" y="2185591"/>
            <a:ext cx="5156200" cy="922536"/>
          </a:xfrm>
          <a:prstGeom prst="roundRect">
            <a:avLst>
              <a:gd name="adj" fmla="val 9636"/>
            </a:avLst>
          </a:prstGeom>
          <a:solidFill>
            <a:srgbClr val="FBEBD7"/>
          </a:solidFill>
          <a:ln/>
        </p:spPr>
        <p:txBody>
          <a:bodyPr wrap="square" lIns="139062" tIns="100962" rIns="0" bIns="75562"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Qué pasó:</a:t>
            </a:r>
            <a:r>
              <a:rPr lang="en-US" sz="1300" dirty="0">
                <a:solidFill>
                  <a:srgbClr val="1B2430"/>
                </a:solidFill>
                <a:latin typeface="DM Sans" pitchFamily="34" charset="0"/>
                <a:ea typeface="DM Sans" pitchFamily="34" charset="-122"/>
                <a:cs typeface="DM Sans" pitchFamily="34" charset="-120"/>
              </a:rPr>
              <a:t> el nodo falló tras 3 intentos (cerca de 6,5 s), el principal quedó en Error y el manejador guardó el incidente en la tabla incidentes.</a:t>
            </a:r>
            <a:endParaRPr lang="en-US" sz="1300" dirty="0"/>
          </a:p>
        </p:txBody>
      </p:sp>
      <p:sp>
        <p:nvSpPr>
          <p:cNvPr id="5" name="Text 3"/>
          <p:cNvSpPr/>
          <p:nvPr/>
        </p:nvSpPr>
        <p:spPr>
          <a:xfrm>
            <a:off x="812800" y="3197027"/>
            <a:ext cx="5156200" cy="922536"/>
          </a:xfrm>
          <a:prstGeom prst="roundRect">
            <a:avLst>
              <a:gd name="adj" fmla="val 9636"/>
            </a:avLst>
          </a:prstGeom>
          <a:solidFill>
            <a:srgbClr val="DCEFEC"/>
          </a:solidFill>
          <a:ln/>
        </p:spPr>
        <p:txBody>
          <a:bodyPr wrap="square" lIns="139062" tIns="100962" rIns="0" bIns="75562"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Recuperación:</a:t>
            </a:r>
            <a:r>
              <a:rPr lang="en-US" sz="1300" dirty="0">
                <a:solidFill>
                  <a:srgbClr val="1B2430"/>
                </a:solidFill>
                <a:latin typeface="DM Sans" pitchFamily="34" charset="0"/>
                <a:ea typeface="DM Sans" pitchFamily="34" charset="-122"/>
                <a:cs typeface="DM Sans" pitchFamily="34" charset="-120"/>
              </a:rPr>
              <a:t> se restauró la URL y se repitió la petición. Respondió bien y reutilizó la misma alerta, sin crear una segunda.</a:t>
            </a:r>
            <a:endParaRPr lang="en-US" sz="1300" dirty="0"/>
          </a:p>
        </p:txBody>
      </p:sp>
      <p:sp>
        <p:nvSpPr>
          <p:cNvPr id="6" name="Text 4"/>
          <p:cNvSpPr/>
          <p:nvPr/>
        </p:nvSpPr>
        <p:spPr>
          <a:xfrm>
            <a:off x="815975" y="4211638"/>
            <a:ext cx="5149850" cy="706041"/>
          </a:xfrm>
          <a:prstGeom prst="roundRect">
            <a:avLst>
              <a:gd name="adj" fmla="val 12142"/>
            </a:avLst>
          </a:prstGeom>
          <a:solidFill>
            <a:srgbClr val="FFFFFF"/>
          </a:solidFill>
          <a:ln w="6350">
            <a:solidFill>
              <a:srgbClr val="DAD8D0"/>
            </a:solidFill>
            <a:prstDash val="solid"/>
          </a:ln>
        </p:spPr>
        <p:txBody>
          <a:bodyPr wrap="square" lIns="143167" tIns="105067" rIns="0" bIns="79667"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Límite:</a:t>
            </a:r>
            <a:r>
              <a:rPr lang="en-US" sz="1300" dirty="0">
                <a:solidFill>
                  <a:srgbClr val="1B2430"/>
                </a:solidFill>
                <a:latin typeface="DM Sans" pitchFamily="34" charset="0"/>
                <a:ea typeface="DM Sans" pitchFamily="34" charset="-122"/>
                <a:cs typeface="DM Sans" pitchFamily="34" charset="-120"/>
              </a:rPr>
              <a:t> el manejador solo registra el fallo; no lo repara ni avisa a nadie.</a:t>
            </a:r>
            <a:endParaRPr lang="en-US" sz="1300" dirty="0"/>
          </a:p>
        </p:txBody>
      </p:sp>
      <p:sp>
        <p:nvSpPr>
          <p:cNvPr id="7" name="Text 5"/>
          <p:cNvSpPr/>
          <p:nvPr/>
        </p:nvSpPr>
        <p:spPr>
          <a:xfrm>
            <a:off x="6223000" y="1384300"/>
            <a:ext cx="531088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Ejecuciones del principal en estado Error</a:t>
            </a:r>
            <a:endParaRPr lang="en-US" sz="1300" dirty="0"/>
          </a:p>
        </p:txBody>
      </p:sp>
      <p:sp>
        <p:nvSpPr>
          <p:cNvPr id="8" name="Shape 6"/>
          <p:cNvSpPr/>
          <p:nvPr/>
        </p:nvSpPr>
        <p:spPr>
          <a:xfrm>
            <a:off x="6223000" y="1670645"/>
            <a:ext cx="4064000" cy="2171700"/>
          </a:xfrm>
          <a:prstGeom prst="roundRect">
            <a:avLst>
              <a:gd name="adj" fmla="val 2339"/>
            </a:avLst>
          </a:prstGeom>
          <a:solidFill>
            <a:srgbClr val="FFFFFF"/>
          </a:solidFill>
          <a:ln/>
        </p:spPr>
      </p:sp>
      <p:pic>
        <p:nvPicPr>
          <p:cNvPr id="9" name="Image 0" descr="Lista de ejecuciones del principal en estado Error, con el mensaje del nodo Registrar alerta en Supabase: the resource you are requesting could not be found"/>
          <p:cNvPicPr>
            <a:picLocks noChangeAspect="1"/>
          </p:cNvPicPr>
          <p:nvPr/>
        </p:nvPicPr>
        <p:blipFill>
          <a:blip r:embed="rId3"/>
          <a:srcRect l="-144" r="-144"/>
          <a:stretch/>
        </p:blipFill>
        <p:spPr>
          <a:xfrm>
            <a:off x="6229350" y="1676995"/>
            <a:ext cx="4051300" cy="2159000"/>
          </a:xfrm>
          <a:prstGeom prst="roundRect">
            <a:avLst>
              <a:gd name="adj" fmla="val 2059"/>
            </a:avLst>
          </a:prstGeom>
        </p:spPr>
      </p:pic>
      <p:sp>
        <p:nvSpPr>
          <p:cNvPr id="10" name="Shape 7"/>
          <p:cNvSpPr/>
          <p:nvPr/>
        </p:nvSpPr>
        <p:spPr>
          <a:xfrm>
            <a:off x="6226175" y="1673820"/>
            <a:ext cx="4057650" cy="2165350"/>
          </a:xfrm>
          <a:prstGeom prst="roundRect">
            <a:avLst>
              <a:gd name="adj" fmla="val 2199"/>
            </a:avLst>
          </a:prstGeom>
          <a:noFill/>
          <a:ln w="6350">
            <a:solidFill>
              <a:srgbClr val="DAD8D0"/>
            </a:solidFill>
            <a:prstDash val="solid"/>
          </a:ln>
        </p:spPr>
      </p:sp>
      <p:sp>
        <p:nvSpPr>
          <p:cNvPr id="11" name="Text 8"/>
          <p:cNvSpPr/>
          <p:nvPr/>
        </p:nvSpPr>
        <p:spPr>
          <a:xfrm>
            <a:off x="6223000" y="3905845"/>
            <a:ext cx="531088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Repetición tras corregir: misma alerta (id 4)</a:t>
            </a:r>
            <a:endParaRPr lang="en-US" sz="1300" dirty="0"/>
          </a:p>
        </p:txBody>
      </p:sp>
      <p:sp>
        <p:nvSpPr>
          <p:cNvPr id="12" name="Shape 9"/>
          <p:cNvSpPr/>
          <p:nvPr/>
        </p:nvSpPr>
        <p:spPr>
          <a:xfrm>
            <a:off x="6223000" y="4192191"/>
            <a:ext cx="4064000" cy="1314450"/>
          </a:xfrm>
          <a:prstGeom prst="roundRect">
            <a:avLst>
              <a:gd name="adj" fmla="val 3865"/>
            </a:avLst>
          </a:prstGeom>
          <a:solidFill>
            <a:srgbClr val="FFFFFF"/>
          </a:solidFill>
          <a:ln/>
        </p:spPr>
      </p:sp>
      <p:pic>
        <p:nvPicPr>
          <p:cNvPr id="13" name="Image 1" descr="Respuesta correcta tras la corrección con id 4 y alerta_id 1-2026-10-24, la misma alerta original"/>
          <p:cNvPicPr>
            <a:picLocks noChangeAspect="1"/>
          </p:cNvPicPr>
          <p:nvPr/>
        </p:nvPicPr>
        <p:blipFill>
          <a:blip r:embed="rId4"/>
          <a:srcRect l="-403" r="-403"/>
          <a:stretch/>
        </p:blipFill>
        <p:spPr>
          <a:xfrm>
            <a:off x="6229350" y="4198541"/>
            <a:ext cx="4051300" cy="1301750"/>
          </a:xfrm>
          <a:prstGeom prst="roundRect">
            <a:avLst>
              <a:gd name="adj" fmla="val 3415"/>
            </a:avLst>
          </a:prstGeom>
        </p:spPr>
      </p:pic>
      <p:sp>
        <p:nvSpPr>
          <p:cNvPr id="14" name="Shape 10"/>
          <p:cNvSpPr/>
          <p:nvPr/>
        </p:nvSpPr>
        <p:spPr>
          <a:xfrm>
            <a:off x="6226175" y="4195366"/>
            <a:ext cx="4057650" cy="1308100"/>
          </a:xfrm>
          <a:prstGeom prst="roundRect">
            <a:avLst>
              <a:gd name="adj" fmla="val 3641"/>
            </a:avLst>
          </a:prstGeom>
          <a:noFill/>
          <a:ln w="6350">
            <a:solidFill>
              <a:srgbClr val="DAD8D0"/>
            </a:solidFill>
            <a:prstDash val="solid"/>
          </a:ln>
        </p:spPr>
      </p:sp>
      <p:sp>
        <p:nvSpPr>
          <p:cNvPr id="15"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6"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Pruebas y resultados</a:t>
            </a:r>
            <a:endParaRPr lang="en-US" sz="3200" dirty="0"/>
          </a:p>
        </p:txBody>
      </p:sp>
      <p:sp>
        <p:nvSpPr>
          <p:cNvPr id="3" name="Text 1"/>
          <p:cNvSpPr/>
          <p:nvPr/>
        </p:nvSpPr>
        <p:spPr>
          <a:xfrm>
            <a:off x="812800" y="143758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Las 8 pruebas, hechas el 24 de octubre de 2026 con datos ficticios, dieron el resultado esperado.</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76921"/>
          <a:ext cx="10553700" cy="3085209"/>
        </p:xfrm>
        <a:graphic>
          <a:graphicData uri="http://schemas.openxmlformats.org/drawingml/2006/table">
            <a:tbl>
              <a:tblPr/>
              <a:tblGrid>
                <a:gridCol w="633222">
                  <a:extLst>
                    <a:ext uri="{9D8B030D-6E8A-4147-A177-3AD203B41FA5}">
                      <a16:colId xmlns:a16="http://schemas.microsoft.com/office/drawing/2014/main" val="20000"/>
                    </a:ext>
                  </a:extLst>
                </a:gridCol>
                <a:gridCol w="2743962">
                  <a:extLst>
                    <a:ext uri="{9D8B030D-6E8A-4147-A177-3AD203B41FA5}">
                      <a16:colId xmlns:a16="http://schemas.microsoft.com/office/drawing/2014/main" val="20001"/>
                    </a:ext>
                  </a:extLst>
                </a:gridCol>
                <a:gridCol w="4010406">
                  <a:extLst>
                    <a:ext uri="{9D8B030D-6E8A-4147-A177-3AD203B41FA5}">
                      <a16:colId xmlns:a16="http://schemas.microsoft.com/office/drawing/2014/main" val="20002"/>
                    </a:ext>
                  </a:extLst>
                </a:gridCol>
                <a:gridCol w="3166110">
                  <a:extLst>
                    <a:ext uri="{9D8B030D-6E8A-4147-A177-3AD203B41FA5}">
                      <a16:colId xmlns:a16="http://schemas.microsoft.com/office/drawing/2014/main" val="20003"/>
                    </a:ext>
                  </a:extLst>
                </a:gridCol>
              </a:tblGrid>
              <a:tr h="342801">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N.º</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Caso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Entrada</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Resultado observado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1</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Caso normal</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Peluche Stitch (stock 3, mínimo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Alta, alerta creada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2</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Repetir</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La misma petición del caso 1</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Sigue una sola fila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3</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Stock en el límite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Peluche Mickey (10 y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Mediana, alerta creada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4</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Stock suficiente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Camiseta Roja (50 y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Baja, sin alerta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4"/>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5</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No encontrado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producto=zzzz</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Aviso, sin escrituras</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5"/>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6</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Entrada no válida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 con stock vacío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datos_validos false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6"/>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7</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Fallo técnico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URL de escritura alterada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Incidente guardado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7"/>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8</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Recuperación</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URL corregida, misma petición</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Misma alerta, sin duplicar</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Text 2"/>
          <p:cNvSpPr/>
          <p:nvPr/>
        </p:nvSpPr>
        <p:spPr>
          <a:xfrm>
            <a:off x="812800" y="5139928"/>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5606E"/>
                </a:solidFill>
                <a:latin typeface="DM Sans" pitchFamily="34" charset="0"/>
                <a:ea typeface="DM Sans" pitchFamily="34" charset="-122"/>
                <a:cs typeface="DM Sans" pitchFamily="34" charset="-120"/>
              </a:rPr>
              <a:t>Beneficio esperado, aún no medido:</a:t>
            </a:r>
            <a:r>
              <a:rPr lang="en-US" sz="1300" dirty="0">
                <a:solidFill>
                  <a:srgbClr val="55606E"/>
                </a:solidFill>
                <a:latin typeface="DM Sans" pitchFamily="34" charset="0"/>
                <a:ea typeface="DM Sans" pitchFamily="34" charset="-122"/>
                <a:cs typeface="DM Sans" pitchFamily="34" charset="-120"/>
              </a:rPr>
              <a:t> menos revisiones manuales y menos alertas olvidadas.</a:t>
            </a:r>
            <a:endParaRPr lang="en-US" sz="13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Estado final de la solución</a:t>
            </a:r>
            <a:endParaRPr lang="en-US" sz="3200" dirty="0"/>
          </a:p>
        </p:txBody>
      </p:sp>
      <p:sp>
        <p:nvSpPr>
          <p:cNvPr id="3" name="Shape 1"/>
          <p:cNvSpPr/>
          <p:nvPr/>
        </p:nvSpPr>
        <p:spPr>
          <a:xfrm>
            <a:off x="812800" y="1437580"/>
            <a:ext cx="3403600" cy="2592784"/>
          </a:xfrm>
          <a:prstGeom prst="roundRect">
            <a:avLst>
              <a:gd name="adj" fmla="val 3919"/>
            </a:avLst>
          </a:prstGeom>
          <a:solidFill>
            <a:srgbClr val="DCEFEC"/>
          </a:solidFill>
          <a:ln/>
        </p:spPr>
      </p:sp>
      <p:sp>
        <p:nvSpPr>
          <p:cNvPr id="4" name="Text 2"/>
          <p:cNvSpPr/>
          <p:nvPr/>
        </p:nvSpPr>
        <p:spPr>
          <a:xfrm>
            <a:off x="10033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B5B54"/>
                </a:solidFill>
                <a:latin typeface="DM Sans" pitchFamily="34" charset="0"/>
                <a:ea typeface="DM Sans" pitchFamily="34" charset="-122"/>
                <a:cs typeface="DM Sans" pitchFamily="34" charset="-120"/>
              </a:rPr>
              <a:t>Implementado</a:t>
            </a:r>
            <a:endParaRPr lang="en-US" sz="1800" dirty="0"/>
          </a:p>
        </p:txBody>
      </p:sp>
      <p:sp>
        <p:nvSpPr>
          <p:cNvPr id="5" name="Text 3"/>
          <p:cNvSpPr/>
          <p:nvPr/>
        </p:nvSpPr>
        <p:spPr>
          <a:xfrm>
            <a:off x="1094994" y="1991221"/>
            <a:ext cx="3013964" cy="1642963"/>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Webhook GET</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Lectura y escritura con HTTP Request</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Subworkflow de validación</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Alertas sin duplicados</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Reintentos: 3 intentos, 2 s</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Manejador que guarda incidentes</a:t>
            </a:r>
            <a:endParaRPr lang="en-US" sz="1300" dirty="0"/>
          </a:p>
        </p:txBody>
      </p:sp>
      <p:sp>
        <p:nvSpPr>
          <p:cNvPr id="6" name="Shape 4"/>
          <p:cNvSpPr/>
          <p:nvPr/>
        </p:nvSpPr>
        <p:spPr>
          <a:xfrm>
            <a:off x="4394200" y="1437580"/>
            <a:ext cx="3403600" cy="2592784"/>
          </a:xfrm>
          <a:prstGeom prst="roundRect">
            <a:avLst>
              <a:gd name="adj" fmla="val 3919"/>
            </a:avLst>
          </a:prstGeom>
          <a:solidFill>
            <a:srgbClr val="FBEBD7"/>
          </a:solidFill>
          <a:ln/>
        </p:spPr>
      </p:sp>
      <p:sp>
        <p:nvSpPr>
          <p:cNvPr id="7" name="Text 5"/>
          <p:cNvSpPr/>
          <p:nvPr/>
        </p:nvSpPr>
        <p:spPr>
          <a:xfrm>
            <a:off x="45847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A3F06"/>
                </a:solidFill>
                <a:latin typeface="DM Sans" pitchFamily="34" charset="0"/>
                <a:ea typeface="DM Sans" pitchFamily="34" charset="-122"/>
                <a:cs typeface="DM Sans" pitchFamily="34" charset="-120"/>
              </a:rPr>
              <a:t>Simulado</a:t>
            </a:r>
            <a:endParaRPr lang="en-US" sz="1800" dirty="0"/>
          </a:p>
        </p:txBody>
      </p:sp>
      <p:sp>
        <p:nvSpPr>
          <p:cNvPr id="8" name="Text 6"/>
          <p:cNvSpPr/>
          <p:nvPr/>
        </p:nvSpPr>
        <p:spPr>
          <a:xfrm>
            <a:off x="4676394" y="1991221"/>
            <a:ext cx="3013964" cy="1180802"/>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El fallo técnico, provocado cambiando la URL a una tabla inexistente</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Todos los datos del inventario, que son ficticios</a:t>
            </a:r>
            <a:endParaRPr lang="en-US" sz="1300" dirty="0"/>
          </a:p>
        </p:txBody>
      </p:sp>
      <p:sp>
        <p:nvSpPr>
          <p:cNvPr id="9" name="Shape 7"/>
          <p:cNvSpPr/>
          <p:nvPr/>
        </p:nvSpPr>
        <p:spPr>
          <a:xfrm>
            <a:off x="7975600" y="1437580"/>
            <a:ext cx="3403600" cy="2592784"/>
          </a:xfrm>
          <a:prstGeom prst="roundRect">
            <a:avLst>
              <a:gd name="adj" fmla="val 3919"/>
            </a:avLst>
          </a:prstGeom>
          <a:solidFill>
            <a:srgbClr val="E4E8F5"/>
          </a:solidFill>
          <a:ln/>
        </p:spPr>
      </p:sp>
      <p:sp>
        <p:nvSpPr>
          <p:cNvPr id="10" name="Text 8"/>
          <p:cNvSpPr/>
          <p:nvPr/>
        </p:nvSpPr>
        <p:spPr>
          <a:xfrm>
            <a:off x="81661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2B3A8C"/>
                </a:solidFill>
                <a:latin typeface="DM Sans" pitchFamily="34" charset="0"/>
                <a:ea typeface="DM Sans" pitchFamily="34" charset="-122"/>
                <a:cs typeface="DM Sans" pitchFamily="34" charset="-120"/>
              </a:rPr>
              <a:t>Propuesto</a:t>
            </a:r>
            <a:endParaRPr lang="en-US" sz="1800" dirty="0"/>
          </a:p>
        </p:txBody>
      </p:sp>
      <p:sp>
        <p:nvSpPr>
          <p:cNvPr id="11" name="Text 9"/>
          <p:cNvSpPr/>
          <p:nvPr/>
        </p:nvSpPr>
        <p:spPr>
          <a:xfrm>
            <a:off x="8257794" y="1991221"/>
            <a:ext cx="3013964" cy="1874044"/>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Avisar por correo o chat al registrar un incidente</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Responder al cliente si falla el registro</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Validar la petición sin el parámetro producto</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Reactivar la seguridad por filas con políticas</a:t>
            </a:r>
            <a:endParaRPr lang="en-US" sz="13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02B"/>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1910159"/>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6F5F1"/>
                </a:solidFill>
                <a:latin typeface="DM Sans" pitchFamily="34" charset="0"/>
                <a:ea typeface="DM Sans" pitchFamily="34" charset="-122"/>
                <a:cs typeface="DM Sans" pitchFamily="34" charset="-120"/>
              </a:rPr>
              <a:t>Acceso al proyecto</a:t>
            </a:r>
            <a:endParaRPr lang="en-US" sz="3600" dirty="0"/>
          </a:p>
        </p:txBody>
      </p:sp>
      <p:sp>
        <p:nvSpPr>
          <p:cNvPr id="3" name="Shape 1"/>
          <p:cNvSpPr/>
          <p:nvPr/>
        </p:nvSpPr>
        <p:spPr>
          <a:xfrm>
            <a:off x="812800" y="2667000"/>
            <a:ext cx="10566400" cy="1137841"/>
          </a:xfrm>
          <a:prstGeom prst="roundRect">
            <a:avLst>
              <a:gd name="adj" fmla="val 11161"/>
            </a:avLst>
          </a:prstGeom>
          <a:solidFill>
            <a:srgbClr val="1E3342"/>
          </a:solidFill>
          <a:ln/>
        </p:spPr>
      </p:sp>
      <p:sp>
        <p:nvSpPr>
          <p:cNvPr id="4" name="Text 2"/>
          <p:cNvSpPr/>
          <p:nvPr/>
        </p:nvSpPr>
        <p:spPr>
          <a:xfrm>
            <a:off x="1092200" y="2895600"/>
            <a:ext cx="10307828"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D3C8"/>
                </a:solidFill>
                <a:latin typeface="DM Sans" pitchFamily="34" charset="0"/>
                <a:ea typeface="DM Sans" pitchFamily="34" charset="-122"/>
                <a:cs typeface="DM Sans" pitchFamily="34" charset="-120"/>
              </a:rPr>
              <a:t>REPOSITORIO EN GITHUB</a:t>
            </a:r>
            <a:endParaRPr lang="en-US" sz="1400" dirty="0"/>
          </a:p>
        </p:txBody>
      </p:sp>
      <p:sp>
        <p:nvSpPr>
          <p:cNvPr id="5" name="Text 3"/>
          <p:cNvSpPr/>
          <p:nvPr/>
        </p:nvSpPr>
        <p:spPr>
          <a:xfrm>
            <a:off x="1092200" y="3220641"/>
            <a:ext cx="1030782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6F5F1"/>
                </a:solidFill>
                <a:latin typeface="DM Sans" pitchFamily="34" charset="0"/>
                <a:ea typeface="DM Sans" pitchFamily="34" charset="-122"/>
                <a:cs typeface="DM Sans" pitchFamily="34" charset="-120"/>
              </a:rPr>
              <a:t>[COMPLETAR: enlace al repositorio]</a:t>
            </a:r>
            <a:endParaRPr lang="en-US" sz="2000" dirty="0"/>
          </a:p>
        </p:txBody>
      </p:sp>
      <p:sp>
        <p:nvSpPr>
          <p:cNvPr id="6" name="Text 4"/>
          <p:cNvSpPr/>
          <p:nvPr/>
        </p:nvSpPr>
        <p:spPr>
          <a:xfrm>
            <a:off x="812800" y="40588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README:</a:t>
            </a:r>
            <a:r>
              <a:rPr lang="en-US" sz="1500" dirty="0">
                <a:solidFill>
                  <a:srgbClr val="F6F5F1"/>
                </a:solidFill>
                <a:latin typeface="DM Sans" pitchFamily="34" charset="0"/>
                <a:ea typeface="DM Sans" pitchFamily="34" charset="-122"/>
                <a:cs typeface="DM Sans" pitchFamily="34" charset="-120"/>
              </a:rPr>
              <a:t> qué hace, cómo configurarlo y probarlo.</a:t>
            </a:r>
            <a:endParaRPr lang="en-US" sz="1500" dirty="0"/>
          </a:p>
        </p:txBody>
      </p:sp>
      <p:sp>
        <p:nvSpPr>
          <p:cNvPr id="7" name="Text 5"/>
          <p:cNvSpPr/>
          <p:nvPr/>
        </p:nvSpPr>
        <p:spPr>
          <a:xfrm>
            <a:off x="6172200" y="4058841"/>
            <a:ext cx="60198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workflows:</a:t>
            </a:r>
            <a:r>
              <a:rPr lang="en-US" sz="1500" dirty="0">
                <a:solidFill>
                  <a:srgbClr val="F6F5F1"/>
                </a:solidFill>
                <a:latin typeface="DM Sans" pitchFamily="34" charset="0"/>
                <a:ea typeface="DM Sans" pitchFamily="34" charset="-122"/>
                <a:cs typeface="DM Sans" pitchFamily="34" charset="-120"/>
              </a:rPr>
              <a:t> los tres archivos JSON y el script de Supabase.</a:t>
            </a:r>
            <a:endParaRPr lang="en-US" sz="1500" dirty="0"/>
          </a:p>
        </p:txBody>
      </p:sp>
      <p:sp>
        <p:nvSpPr>
          <p:cNvPr id="8" name="Text 6"/>
          <p:cNvSpPr/>
          <p:nvPr/>
        </p:nvSpPr>
        <p:spPr>
          <a:xfrm>
            <a:off x="812800" y="44779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Bitácora unificada:</a:t>
            </a:r>
            <a:r>
              <a:rPr lang="en-US" sz="1500" dirty="0">
                <a:solidFill>
                  <a:srgbClr val="F6F5F1"/>
                </a:solidFill>
                <a:latin typeface="DM Sans" pitchFamily="34" charset="0"/>
                <a:ea typeface="DM Sans" pitchFamily="34" charset="-122"/>
                <a:cs typeface="DM Sans" pitchFamily="34" charset="-120"/>
              </a:rPr>
              <a:t> el funcionamiento completo.</a:t>
            </a:r>
            <a:endParaRPr lang="en-US" sz="1500" dirty="0"/>
          </a:p>
        </p:txBody>
      </p:sp>
      <p:sp>
        <p:nvSpPr>
          <p:cNvPr id="9" name="Text 7"/>
          <p:cNvSpPr/>
          <p:nvPr/>
        </p:nvSpPr>
        <p:spPr>
          <a:xfrm>
            <a:off x="6172200" y="44779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Evidencias:</a:t>
            </a:r>
            <a:r>
              <a:rPr lang="en-US" sz="1500" dirty="0">
                <a:solidFill>
                  <a:srgbClr val="F6F5F1"/>
                </a:solidFill>
                <a:latin typeface="DM Sans" pitchFamily="34" charset="0"/>
                <a:ea typeface="DM Sans" pitchFamily="34" charset="-122"/>
                <a:cs typeface="DM Sans" pitchFamily="34" charset="-120"/>
              </a:rPr>
              <a:t> capturas y pruebas de cada caso.</a:t>
            </a:r>
            <a:endParaRPr lang="en-US" sz="15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BD"/>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0BD"/>
                </a:solidFill>
                <a:latin typeface="DM Sans" pitchFamily="34" charset="0"/>
                <a:ea typeface="DM Sans" pitchFamily="34" charset="-122"/>
                <a:cs typeface="DM Sans" pitchFamily="34" charset="-120"/>
              </a:rPr>
              <a:t>14</a:t>
            </a:r>
            <a:endParaRPr lang="en-US" sz="1200" dirty="0"/>
          </a:p>
        </p:txBody>
      </p:sp>
    </p:spTree>
  </p:cSld>
  <p:clrMapOvr>
    <a:masterClrMapping/>
  </p:clrMapOvr>
</p:sld>
</file>

<file path=ppt/theme/theme1.xml><?xml version="1.0" encoding="utf-8"?>
<a:theme xmlns:a="http://schemas.openxmlformats.org/drawingml/2006/main" name="Presentación Corte 2 - Inventario">
  <a:themeElements>
    <a:clrScheme name="Presentación Corte 2 - Inventario">
      <a:dk1>
        <a:srgbClr val="1B2430"/>
      </a:dk1>
      <a:lt1>
        <a:srgbClr val="F6F5F1"/>
      </a:lt1>
      <a:dk2>
        <a:srgbClr val="525860"/>
      </a:dk2>
      <a:lt2>
        <a:srgbClr val="E0E0DE"/>
      </a:lt2>
      <a:accent1>
        <a:srgbClr val="0F766E"/>
      </a:accent1>
      <a:accent2>
        <a:srgbClr val="7DD3C8"/>
      </a:accent2>
      <a:accent3>
        <a:srgbClr val="0B5B54"/>
      </a:accent3>
      <a:accent4>
        <a:srgbClr val="8A3F06"/>
      </a:accent4>
      <a:accent5>
        <a:srgbClr val="B45309"/>
      </a:accent5>
      <a:accent6>
        <a:srgbClr val="2B3A8C"/>
      </a:accent6>
      <a:hlink>
        <a:srgbClr val="0563C1"/>
      </a:hlink>
      <a:folHlink>
        <a:srgbClr val="954F72"/>
      </a:folHlink>
    </a:clrScheme>
    <a:fontScheme name="Presentación Corte 2 - Inventario">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TotalTime>
  <Words>2064</Words>
  <Application>Microsoft Office PowerPoint</Application>
  <PresentationFormat>Panorámica</PresentationFormat>
  <Paragraphs>244</Paragraphs>
  <Slides>14</Slides>
  <Notes>14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DM Sans</vt:lpstr>
      <vt:lpstr>Arial</vt:lpstr>
      <vt:lpstr>Consolas</vt:lpstr>
      <vt:lpstr>Calibri</vt:lpstr>
      <vt:lpstr>Presentación Corte 2 - Inventario</vt:lpstr>
      <vt:lpstr>Inventario: revisión de stock y alertas de reposición</vt:lpstr>
      <vt:lpstr>Un faltante que nadie vio a tiempo</vt:lpstr>
      <vt:lpstr>Cómo se hace hoy, a mano</vt:lpstr>
      <vt:lpstr>Objetivo y alcance de esta versión</vt:lpstr>
      <vt:lpstr>La solución automatizada</vt:lpstr>
      <vt:lpstr>Recorrido de un caso completo</vt:lpstr>
      <vt:lpstr>Resultado real: respuesta y registro</vt:lpstr>
      <vt:lpstr>Integraciones: qué se intercambia con Supabase</vt:lpstr>
      <vt:lpstr>Organización de los workflows</vt:lpstr>
      <vt:lpstr>Validaciones y errores: dos situaciones distintas</vt:lpstr>
      <vt:lpstr>Fallo técnico controlado y recuperación</vt:lpstr>
      <vt:lpstr>Pruebas y resultados</vt:lpstr>
      <vt:lpstr>Estado final de la solución</vt:lpstr>
      <vt:lpstr>Acceso al proyecto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Corte 2 - Inventario</dc:title>
  <dc:subject/>
  <dc:creator>USUARIO</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dc:description>
  <cp:lastModifiedBy>USUARIO</cp:lastModifiedBy>
  <cp:revision>4</cp:revision>
  <dcterms:created xsi:type="dcterms:W3CDTF">2026-10-25T20:11:11Z</dcterms:created>
  <dcterms:modified xsi:type="dcterms:W3CDTF">2026-10-25T23:25:25Z</dcterms:modified>
</cp:coreProperties>
</file>