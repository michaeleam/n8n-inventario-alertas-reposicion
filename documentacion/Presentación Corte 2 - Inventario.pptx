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embeddedFontLst>
    <p:embeddedFont>
      <p:font typeface="Calibri" panose="020F0502020204030204" pitchFamily="34" charset="0"/>
      <p:regular r:id="rId17"/>
      <p:bold r:id="rId18"/>
      <p:italic r:id="rId19"/>
      <p:boldItalic r:id="rId20"/>
    </p:embeddedFont>
    <p:embeddedFont>
      <p:font typeface="Consolas" panose="020B0609020204030204" pitchFamily="49" charset="0"/>
      <p:regular r:id="rId21"/>
      <p:bold r:id="rId22"/>
      <p:italic r:id="rId23"/>
      <p:boldItalic r:id="rId24"/>
    </p:embeddedFont>
    <p:embeddedFont>
      <p:font typeface="DM Sans" pitchFamily="2" charset="0"/>
      <p:regular r:id="rId25"/>
      <p:bold r:id="rId26"/>
      <p:italic r:id="rId27"/>
      <p:boldItalic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63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font" Target="fonts/font12.fntdata"/><Relationship Id="rId10" Type="http://schemas.openxmlformats.org/officeDocument/2006/relationships/slide" Target="slides/slide9.xml"/><Relationship Id="rId19" Type="http://schemas.openxmlformats.org/officeDocument/2006/relationships/font" Target="fonts/font3.fntdata"/><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font" Target="fonts/font11.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692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segundo corte. Sustituir el marcador de integrantes por los nombres reales del equipo antes de exportar el PDF.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del ejemplo son ficticios. Explicar la situación con el Peluche Stitch: stock 3, mínimo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Proceso sin automatización: cinco pasos que dependen de una persona. En naranja, dónde aparecen demoras, errores y tareas repetitivas.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Alcance de la versión entregada. Lo que queda fuera aparece de nuevo como mejoras propuestas al final.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sistemas: el cliente que pregunta, n8n que decide y Supabase que guarda. Aquí se explican los términos técnicos que se usan en el resto de la presentación.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1 de las pruebas, ejecutado el 24 de octubre de 2026. La clave de la alerta combina el id del producto y la fecha, por eso repetir la petición el mismo día no crea otra alerta.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Arriba, la respuesta del Webhook en el navegador. Abajo, la tabla de Supabase después de la prueba. Ver la respuesta no basta como prueba: por eso se muestra también la fila creada en la tabla.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Supabase es el único servicio externo. Se usa para leer el inventario y para escribir alertas e incidentes, siempre mediante HTTP Request. El encabezado Prefer: resolution=merge-duplicates junto con on_conflict hace que repetir una escritura actualice la fila en vez de duplicarla.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workflows, cada uno con una responsabilidad. Los archivos se llaman Principal_Revision_Stock.json, Preparar_Producto.json y Manejador_Errores.json. El manejador se asocia al principal en los ajustes del flujo (Error workflow).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Diferencia clave: una respuesta del negocio es un resultado esperado y no activa el manejador. Solo un error técnico, como una tabla que no existe, lo activa. Guardar el incidente en una tabla no equivale a avisar a alguien.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fallo se provocó a propósito, por eso aparece como simulado en el estado final. Para no duplicar al repetir, la clave de la alerta (id del producto más fecha) y la inserción con fusión de duplicados hacen que la repetición actualice la misma fila. El manejador solo se activa con ejecuciones automáticas, no con las manuales del editor.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1 a 6 fueron manuales con la URL de prueba del Webhook. Las pruebas 7 y 8 fueron automáticas con la URL de producción. No se midieron ahorros de tiempo, por eso el beneficio se presenta solo como esperado.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Separar con claridad lo implementado, lo simulado y lo propuesto. Lo propuesto no está construido.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Reemplazar el marcador por el enlace real del repositorio. Si es privado, dar acceso al docente antes de entregar.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B2430"/>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64580"/>
            <a:ext cx="10566400" cy="4480620"/>
          </a:xfrm>
          <a:prstGeom prst="rect">
            <a:avLst/>
          </a:prstGeom>
          <a:noFill/>
          <a:ln/>
        </p:spPr>
        <p:txBody>
          <a:bodyPr wrap="square" lIns="0" tIns="0" rIns="0" bIns="0" rtlCol="0" anchor="t"/>
          <a:lstStyle>
            <a:lvl1pPr marL="0" indent="0" algn="l">
              <a:lnSpc>
                <a:spcPct val="140000"/>
              </a:lnSpc>
              <a:buNone/>
              <a:defRPr lang="en-US" sz="1600" dirty="0">
                <a:solidFill>
                  <a:srgbClr val="1B2430"/>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46980"/>
          </a:xfrm>
          <a:prstGeom prst="rect">
            <a:avLst/>
          </a:prstGeom>
          <a:noFill/>
          <a:ln/>
        </p:spPr>
        <p:txBody>
          <a:bodyPr wrap="square" lIns="0" tIns="0" rIns="0" bIns="0" rtlCol="0" anchor="t"/>
          <a:lstStyle>
            <a:lvl1pPr marL="0" indent="0" algn="l">
              <a:lnSpc>
                <a:spcPct val="115000"/>
              </a:lnSpc>
              <a:buNone/>
              <a:defRPr lang="en-US" sz="3200" dirty="0">
                <a:solidFill>
                  <a:srgbClr val="1B2430"/>
                </a:solidFill>
                <a:latin typeface="DM Sans" pitchFamily="34" charset="0"/>
                <a:ea typeface="DM Sans" pitchFamily="34" charset="-122"/>
                <a:cs typeface="DM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64580"/>
            <a:ext cx="10566400" cy="4480620"/>
          </a:xfrm>
          <a:prstGeom prst="rect">
            <a:avLst/>
          </a:prstGeom>
          <a:noFill/>
          <a:ln/>
        </p:spPr>
        <p:txBody>
          <a:bodyPr wrap="square" lIns="0" tIns="0" rIns="0" bIns="0" rtlCol="0" anchor="t"/>
          <a:lstStyle>
            <a:lvl1pPr marL="0" indent="0" algn="l">
              <a:lnSpc>
                <a:spcPct val="140000"/>
              </a:lnSpc>
              <a:buNone/>
              <a:defRPr lang="en-US" sz="1600" dirty="0">
                <a:solidFill>
                  <a:srgbClr val="1B2430"/>
                </a:solidFill>
                <a:latin typeface="DM Sans" pitchFamily="34" charset="0"/>
                <a:ea typeface="DM Sans" pitchFamily="34" charset="-122"/>
                <a:cs typeface="DM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02B"/>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kern="0" spc="100" dirty="0">
                <a:solidFill>
                  <a:srgbClr val="7DD3C8"/>
                </a:solidFill>
                <a:latin typeface="DM Sans" pitchFamily="34" charset="0"/>
                <a:ea typeface="DM Sans" pitchFamily="34" charset="-122"/>
                <a:cs typeface="DM Sans" pitchFamily="34" charset="-120"/>
              </a:rPr>
              <a:t>AUTOMATIZACIÓN INTELIGENTE DE PROCESOS CON N8N · EAM · 2026 II</a:t>
            </a:r>
            <a:endParaRPr lang="en-US" sz="1400" dirty="0"/>
          </a:p>
        </p:txBody>
      </p:sp>
      <p:sp>
        <p:nvSpPr>
          <p:cNvPr id="3" name="Text 1"/>
          <p:cNvSpPr>
            <a:spLocks noGrp="1"/>
          </p:cNvSpPr>
          <p:nvPr>
            <p:ph type="title"/>
          </p:nvPr>
        </p:nvSpPr>
        <p:spPr>
          <a:xfrm>
            <a:off x="812800" y="2154039"/>
            <a:ext cx="10883392" cy="1412081"/>
          </a:xfrm>
          <a:prstGeom prst="rect">
            <a:avLst/>
          </a:prstGeom>
          <a:noFill/>
          <a:ln/>
        </p:spPr>
        <p:txBody>
          <a:bodyPr wrap="square" lIns="0" tIns="0" rIns="0" bIns="0" rtlCol="0" anchor="t">
            <a:normAutofit/>
          </a:bodyPr>
          <a:lstStyle/>
          <a:p>
            <a:pPr marL="0" indent="0" algn="l">
              <a:lnSpc>
                <a:spcPts val="5460"/>
              </a:lnSpc>
              <a:buNone/>
            </a:pPr>
            <a:r>
              <a:rPr lang="en-US" sz="5200" b="1" i="0" dirty="0">
                <a:solidFill>
                  <a:srgbClr val="F6F5F1"/>
                </a:solidFill>
                <a:latin typeface="DM Sans" pitchFamily="34" charset="0"/>
                <a:ea typeface="DM Sans" pitchFamily="34" charset="-122"/>
                <a:cs typeface="DM Sans" pitchFamily="34" charset="-120"/>
              </a:rPr>
              <a:t>Inventario: revisión de stock y alertas de reposición</a:t>
            </a:r>
            <a:endParaRPr lang="en-US" sz="5200" dirty="0"/>
          </a:p>
        </p:txBody>
      </p:sp>
      <p:sp>
        <p:nvSpPr>
          <p:cNvPr id="4" name="Text 2"/>
          <p:cNvSpPr/>
          <p:nvPr/>
        </p:nvSpPr>
        <p:spPr>
          <a:xfrm>
            <a:off x="812800" y="3743920"/>
            <a:ext cx="10883392" cy="685800"/>
          </a:xfrm>
          <a:prstGeom prst="rect">
            <a:avLst/>
          </a:prstGeom>
          <a:noFill/>
          <a:ln/>
        </p:spPr>
        <p:txBody>
          <a:bodyPr wrap="square" lIns="0" tIns="0" rIns="0" bIns="0" rtlCol="0" anchor="t">
            <a:normAutofit/>
          </a:bodyPr>
          <a:lstStyle/>
          <a:p>
            <a:pPr marL="0" indent="0" algn="l">
              <a:lnSpc>
                <a:spcPts val="2600"/>
              </a:lnSpc>
              <a:buNone/>
            </a:pPr>
            <a:r>
              <a:rPr lang="en-US" sz="2000" dirty="0">
                <a:solidFill>
                  <a:srgbClr val="C9D4DC"/>
                </a:solidFill>
                <a:latin typeface="DM Sans" pitchFamily="34" charset="0"/>
                <a:ea typeface="DM Sans" pitchFamily="34" charset="-122"/>
                <a:cs typeface="DM Sans" pitchFamily="34" charset="-120"/>
              </a:rPr>
              <a:t>Una solución en n8n y Supabase que revisa el stock de un producto, decide si hay que reponerlo y deja la alerta registrada.</a:t>
            </a:r>
            <a:endParaRPr lang="en-US" sz="2000" dirty="0"/>
          </a:p>
        </p:txBody>
      </p:sp>
      <p:sp>
        <p:nvSpPr>
          <p:cNvPr id="5" name="Text 3"/>
          <p:cNvSpPr/>
          <p:nvPr/>
        </p:nvSpPr>
        <p:spPr>
          <a:xfrm>
            <a:off x="812800" y="4656689"/>
            <a:ext cx="357244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6F5F1"/>
                </a:solidFill>
                <a:latin typeface="DM Sans" pitchFamily="34" charset="0"/>
                <a:ea typeface="DM Sans" pitchFamily="34" charset="-122"/>
                <a:cs typeface="DM Sans" pitchFamily="34" charset="-120"/>
              </a:rPr>
              <a:t>Integrantes</a:t>
            </a:r>
            <a:endParaRPr lang="en-US" sz="1400" dirty="0"/>
          </a:p>
        </p:txBody>
      </p:sp>
      <p:sp>
        <p:nvSpPr>
          <p:cNvPr id="6" name="Text 4"/>
          <p:cNvSpPr/>
          <p:nvPr/>
        </p:nvSpPr>
        <p:spPr>
          <a:xfrm>
            <a:off x="812799" y="5157899"/>
            <a:ext cx="4435061" cy="486060"/>
          </a:xfrm>
          <a:prstGeom prst="rect">
            <a:avLst/>
          </a:prstGeom>
          <a:noFill/>
          <a:ln/>
        </p:spPr>
        <p:txBody>
          <a:bodyPr wrap="square" lIns="0" tIns="0" rIns="0" bIns="0" rtlCol="0" anchor="t">
            <a:normAutofit fontScale="25000" lnSpcReduction="20000"/>
          </a:bodyPr>
          <a:lstStyle/>
          <a:p>
            <a:r>
              <a:rPr lang="en-US" sz="1400" dirty="0">
                <a:solidFill>
                  <a:srgbClr val="C9D4DC"/>
                </a:solidFill>
                <a:latin typeface="DM Sans" pitchFamily="34" charset="0"/>
                <a:ea typeface="DM Sans" pitchFamily="34" charset="-122"/>
                <a:cs typeface="DM Sans" pitchFamily="34" charset="-120"/>
              </a:rPr>
              <a:t>[</a:t>
            </a:r>
            <a:r>
              <a:rPr lang="es-CO" sz="6400" b="0" dirty="0">
                <a:solidFill>
                  <a:srgbClr val="79C0FF"/>
                </a:solidFill>
                <a:effectLst/>
                <a:latin typeface="Consolas" panose="020B0609020204030204" pitchFamily="49" charset="0"/>
              </a:rPr>
              <a:t>Jorge </a:t>
            </a:r>
            <a:r>
              <a:rPr lang="es-CO" sz="6400" b="0" dirty="0" err="1">
                <a:solidFill>
                  <a:srgbClr val="79C0FF"/>
                </a:solidFill>
                <a:effectLst/>
                <a:latin typeface="Consolas" panose="020B0609020204030204" pitchFamily="49" charset="0"/>
              </a:rPr>
              <a:t>Martinez</a:t>
            </a:r>
            <a:r>
              <a:rPr lang="es-CO" sz="6400" b="0" dirty="0">
                <a:solidFill>
                  <a:srgbClr val="BBBEBF"/>
                </a:solidFill>
                <a:effectLst/>
                <a:latin typeface="Consolas" panose="020B0609020204030204" pitchFamily="49" charset="0"/>
              </a:rPr>
              <a:t> </a:t>
            </a:r>
          </a:p>
          <a:p>
            <a:r>
              <a:rPr lang="es-CO" sz="6400" b="0" dirty="0">
                <a:solidFill>
                  <a:srgbClr val="79C0FF"/>
                </a:solidFill>
                <a:effectLst/>
                <a:latin typeface="Consolas" panose="020B0609020204030204" pitchFamily="49" charset="0"/>
              </a:rPr>
              <a:t>Gabriela </a:t>
            </a:r>
            <a:r>
              <a:rPr lang="es-CO" sz="6400" b="0" dirty="0" err="1">
                <a:solidFill>
                  <a:srgbClr val="79C0FF"/>
                </a:solidFill>
                <a:effectLst/>
                <a:latin typeface="Consolas" panose="020B0609020204030204" pitchFamily="49" charset="0"/>
              </a:rPr>
              <a:t>Rios</a:t>
            </a:r>
            <a:r>
              <a:rPr lang="es-CO" sz="6400" b="0" dirty="0">
                <a:solidFill>
                  <a:srgbClr val="BBBEBF"/>
                </a:solidFill>
                <a:effectLst/>
                <a:latin typeface="Consolas" panose="020B0609020204030204" pitchFamily="49" charset="0"/>
              </a:rPr>
              <a:t>  </a:t>
            </a:r>
            <a:endParaRPr lang="es-CO" sz="6400" b="0" dirty="0">
              <a:solidFill>
                <a:srgbClr val="79C0FF"/>
              </a:solidFill>
              <a:effectLst/>
              <a:latin typeface="Consolas" panose="020B0609020204030204" pitchFamily="49" charset="0"/>
            </a:endParaRPr>
          </a:p>
          <a:p>
            <a:r>
              <a:rPr lang="es-CO" sz="6400" b="0" dirty="0">
                <a:solidFill>
                  <a:srgbClr val="79C0FF"/>
                </a:solidFill>
                <a:effectLst/>
                <a:latin typeface="Consolas" panose="020B0609020204030204" pitchFamily="49" charset="0"/>
              </a:rPr>
              <a:t>Michael Aguilera</a:t>
            </a:r>
            <a:endParaRPr lang="es-CO" sz="6400" b="0" dirty="0">
              <a:solidFill>
                <a:srgbClr val="BBBEBF"/>
              </a:solidFill>
              <a:effectLst/>
              <a:latin typeface="Consolas" panose="020B0609020204030204" pitchFamily="49" charset="0"/>
            </a:endParaRPr>
          </a:p>
          <a:p>
            <a:r>
              <a:rPr lang="es-CO" sz="6400" b="0" dirty="0" err="1">
                <a:solidFill>
                  <a:srgbClr val="79C0FF"/>
                </a:solidFill>
                <a:effectLst/>
                <a:latin typeface="Consolas" panose="020B0609020204030204" pitchFamily="49" charset="0"/>
              </a:rPr>
              <a:t>Valentiha</a:t>
            </a:r>
            <a:r>
              <a:rPr lang="es-CO" sz="6400" b="0" dirty="0">
                <a:solidFill>
                  <a:srgbClr val="79C0FF"/>
                </a:solidFill>
                <a:effectLst/>
                <a:latin typeface="Consolas" panose="020B0609020204030204" pitchFamily="49" charset="0"/>
              </a:rPr>
              <a:t> </a:t>
            </a:r>
            <a:r>
              <a:rPr lang="es-CO" sz="6400" b="0" dirty="0" err="1">
                <a:solidFill>
                  <a:srgbClr val="79C0FF"/>
                </a:solidFill>
                <a:effectLst/>
                <a:latin typeface="Consolas" panose="020B0609020204030204" pitchFamily="49" charset="0"/>
              </a:rPr>
              <a:t>Gutierrez</a:t>
            </a:r>
            <a:endParaRPr lang="es-CO" sz="6400" b="0" dirty="0">
              <a:solidFill>
                <a:srgbClr val="BBBEBF"/>
              </a:solidFill>
              <a:effectLst/>
              <a:latin typeface="Consolas" panose="020B0609020204030204" pitchFamily="49" charset="0"/>
            </a:endParaRPr>
          </a:p>
          <a:p>
            <a:pPr marL="0" indent="0" algn="l">
              <a:lnSpc>
                <a:spcPts val="1960"/>
              </a:lnSpc>
              <a:buNone/>
            </a:pPr>
            <a:endParaRPr lang="en-US" sz="1400" dirty="0"/>
          </a:p>
        </p:txBody>
      </p:sp>
      <p:sp>
        <p:nvSpPr>
          <p:cNvPr id="7" name="Text 5"/>
          <p:cNvSpPr/>
          <p:nvPr/>
        </p:nvSpPr>
        <p:spPr>
          <a:xfrm>
            <a:off x="9748540" y="5643959"/>
            <a:ext cx="1630660" cy="401241"/>
          </a:xfrm>
          <a:prstGeom prst="roundRect">
            <a:avLst>
              <a:gd name="adj" fmla="val 50000"/>
            </a:avLst>
          </a:prstGeom>
          <a:solidFill>
            <a:srgbClr val="7DD3C8"/>
          </a:solidFill>
          <a:ln/>
        </p:spPr>
        <p:txBody>
          <a:bodyPr wrap="none" lIns="0" tIns="0" rIns="0" bIns="0" rtlCol="0" anchor="ctr">
            <a:normAutofit/>
          </a:bodyPr>
          <a:lstStyle/>
          <a:p>
            <a:pPr marL="0" indent="0" algn="ctr">
              <a:lnSpc>
                <a:spcPts val="1960"/>
              </a:lnSpc>
              <a:buNone/>
            </a:pPr>
            <a:r>
              <a:rPr lang="en-US" sz="1400" b="1" dirty="0">
                <a:solidFill>
                  <a:srgbClr val="12202B"/>
                </a:solidFill>
                <a:latin typeface="DM Sans" pitchFamily="34" charset="0"/>
                <a:ea typeface="DM Sans" pitchFamily="34" charset="-122"/>
                <a:cs typeface="DM Sans" pitchFamily="34" charset="-120"/>
              </a:rPr>
              <a:t>Segundo corte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Un faltante que nadie vio a tiempo</a:t>
            </a:r>
            <a:endParaRPr lang="en-US" sz="3200" dirty="0"/>
          </a:p>
        </p:txBody>
      </p:sp>
      <p:sp>
        <p:nvSpPr>
          <p:cNvPr id="3" name="Shape 1"/>
          <p:cNvSpPr/>
          <p:nvPr/>
        </p:nvSpPr>
        <p:spPr>
          <a:xfrm>
            <a:off x="812800" y="1513780"/>
            <a:ext cx="10566400" cy="1484511"/>
          </a:xfrm>
          <a:prstGeom prst="roundRect">
            <a:avLst>
              <a:gd name="adj" fmla="val 8555"/>
            </a:avLst>
          </a:prstGeom>
          <a:solidFill>
            <a:srgbClr val="12202B"/>
          </a:solidFill>
          <a:ln/>
        </p:spPr>
      </p:sp>
      <p:sp>
        <p:nvSpPr>
          <p:cNvPr id="4" name="Text 2"/>
          <p:cNvSpPr/>
          <p:nvPr/>
        </p:nvSpPr>
        <p:spPr>
          <a:xfrm>
            <a:off x="1117600" y="1767780"/>
            <a:ext cx="10255504"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D3C8"/>
                </a:solidFill>
                <a:latin typeface="DM Sans" pitchFamily="34" charset="0"/>
                <a:ea typeface="DM Sans" pitchFamily="34" charset="-122"/>
                <a:cs typeface="DM Sans" pitchFamily="34" charset="-120"/>
              </a:rPr>
              <a:t>UNA SITUACIÓN CONCRETA</a:t>
            </a:r>
            <a:endParaRPr lang="en-US" sz="1400" dirty="0"/>
          </a:p>
        </p:txBody>
      </p:sp>
      <p:sp>
        <p:nvSpPr>
          <p:cNvPr id="5" name="Text 3"/>
          <p:cNvSpPr/>
          <p:nvPr/>
        </p:nvSpPr>
        <p:spPr>
          <a:xfrm>
            <a:off x="1117600" y="2092821"/>
            <a:ext cx="10255504" cy="676870"/>
          </a:xfrm>
          <a:prstGeom prst="rect">
            <a:avLst/>
          </a:prstGeom>
          <a:noFill/>
          <a:ln/>
        </p:spPr>
        <p:txBody>
          <a:bodyPr wrap="square" lIns="0" tIns="0" rIns="0" bIns="0" rtlCol="0" anchor="t">
            <a:normAutofit/>
          </a:bodyPr>
          <a:lstStyle/>
          <a:p>
            <a:pPr marL="0" indent="0" algn="l">
              <a:lnSpc>
                <a:spcPts val="2565"/>
              </a:lnSpc>
              <a:buNone/>
            </a:pPr>
            <a:r>
              <a:rPr lang="en-US" sz="1900" dirty="0">
                <a:solidFill>
                  <a:srgbClr val="F6F5F1"/>
                </a:solidFill>
                <a:latin typeface="DM Sans" pitchFamily="34" charset="0"/>
                <a:ea typeface="DM Sans" pitchFamily="34" charset="-122"/>
                <a:cs typeface="DM Sans" pitchFamily="34" charset="-120"/>
              </a:rPr>
              <a:t>Una tienda vende peluches y camisetas. El Peluche Stitch tiene 3 unidades y su stock mínimo es 10. Si nadie lo revisa a tiempo, el producto se agota y se pierden ventas.</a:t>
            </a:r>
            <a:endParaRPr lang="en-US" sz="1900" dirty="0"/>
          </a:p>
        </p:txBody>
      </p:sp>
      <p:sp>
        <p:nvSpPr>
          <p:cNvPr id="6" name="Shape 4"/>
          <p:cNvSpPr/>
          <p:nvPr/>
        </p:nvSpPr>
        <p:spPr>
          <a:xfrm>
            <a:off x="815975" y="3255466"/>
            <a:ext cx="3380284" cy="1230412"/>
          </a:xfrm>
          <a:prstGeom prst="roundRect">
            <a:avLst>
              <a:gd name="adj" fmla="val 7999"/>
            </a:avLst>
          </a:prstGeom>
          <a:solidFill>
            <a:srgbClr val="FFFFFF"/>
          </a:solidFill>
          <a:ln w="6350">
            <a:solidFill>
              <a:srgbClr val="DAD8D0"/>
            </a:solidFill>
            <a:prstDash val="solid"/>
          </a:ln>
        </p:spPr>
      </p:sp>
      <p:sp>
        <p:nvSpPr>
          <p:cNvPr id="7" name="Text 5"/>
          <p:cNvSpPr/>
          <p:nvPr/>
        </p:nvSpPr>
        <p:spPr>
          <a:xfrm>
            <a:off x="1022350"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Quién lo enfrenta</a:t>
            </a:r>
            <a:endParaRPr lang="en-US" sz="1600" dirty="0"/>
          </a:p>
        </p:txBody>
      </p:sp>
      <p:sp>
        <p:nvSpPr>
          <p:cNvPr id="8" name="Text 6"/>
          <p:cNvSpPr/>
          <p:nvPr/>
        </p:nvSpPr>
        <p:spPr>
          <a:xfrm>
            <a:off x="1022350"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La persona que administra el inventario de la tienda.</a:t>
            </a:r>
            <a:endParaRPr lang="en-US" sz="1400" dirty="0"/>
          </a:p>
        </p:txBody>
      </p:sp>
      <p:sp>
        <p:nvSpPr>
          <p:cNvPr id="9" name="Shape 7"/>
          <p:cNvSpPr/>
          <p:nvPr/>
        </p:nvSpPr>
        <p:spPr>
          <a:xfrm>
            <a:off x="4405809" y="3255466"/>
            <a:ext cx="3380284" cy="1230412"/>
          </a:xfrm>
          <a:prstGeom prst="roundRect">
            <a:avLst>
              <a:gd name="adj" fmla="val 7999"/>
            </a:avLst>
          </a:prstGeom>
          <a:solidFill>
            <a:srgbClr val="FFFFFF"/>
          </a:solidFill>
          <a:ln w="6350">
            <a:solidFill>
              <a:srgbClr val="DAD8D0"/>
            </a:solidFill>
            <a:prstDash val="solid"/>
          </a:ln>
        </p:spPr>
      </p:sp>
      <p:sp>
        <p:nvSpPr>
          <p:cNvPr id="10" name="Text 8"/>
          <p:cNvSpPr/>
          <p:nvPr/>
        </p:nvSpPr>
        <p:spPr>
          <a:xfrm>
            <a:off x="4612184"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Qué falla hoy</a:t>
            </a:r>
            <a:endParaRPr lang="en-US" sz="1600" dirty="0"/>
          </a:p>
        </p:txBody>
      </p:sp>
      <p:sp>
        <p:nvSpPr>
          <p:cNvPr id="11" name="Text 9"/>
          <p:cNvSpPr/>
          <p:nvPr/>
        </p:nvSpPr>
        <p:spPr>
          <a:xfrm>
            <a:off x="4612184"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Revisar producto por producto es lento y es fácil olvidar un faltante.</a:t>
            </a:r>
            <a:endParaRPr lang="en-US" sz="1400" dirty="0"/>
          </a:p>
        </p:txBody>
      </p:sp>
      <p:sp>
        <p:nvSpPr>
          <p:cNvPr id="12" name="Shape 10"/>
          <p:cNvSpPr/>
          <p:nvPr/>
        </p:nvSpPr>
        <p:spPr>
          <a:xfrm>
            <a:off x="7995642" y="3255466"/>
            <a:ext cx="3380284" cy="1230412"/>
          </a:xfrm>
          <a:prstGeom prst="roundRect">
            <a:avLst>
              <a:gd name="adj" fmla="val 7999"/>
            </a:avLst>
          </a:prstGeom>
          <a:solidFill>
            <a:srgbClr val="FFFFFF"/>
          </a:solidFill>
          <a:ln w="6350">
            <a:solidFill>
              <a:srgbClr val="DAD8D0"/>
            </a:solidFill>
            <a:prstDash val="solid"/>
          </a:ln>
        </p:spPr>
      </p:sp>
      <p:sp>
        <p:nvSpPr>
          <p:cNvPr id="13" name="Text 11"/>
          <p:cNvSpPr/>
          <p:nvPr/>
        </p:nvSpPr>
        <p:spPr>
          <a:xfrm>
            <a:off x="8202017" y="3461841"/>
            <a:ext cx="3056560"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Qué se necesita</a:t>
            </a:r>
            <a:endParaRPr lang="en-US" sz="1600" dirty="0"/>
          </a:p>
        </p:txBody>
      </p:sp>
      <p:sp>
        <p:nvSpPr>
          <p:cNvPr id="14" name="Text 12"/>
          <p:cNvSpPr/>
          <p:nvPr/>
        </p:nvSpPr>
        <p:spPr>
          <a:xfrm>
            <a:off x="8202017" y="3781822"/>
            <a:ext cx="3056560"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Saber qué reponer, cuánto falta y dejar un registro de la alerta.</a:t>
            </a:r>
            <a:endParaRPr lang="en-US" sz="1400" dirty="0"/>
          </a:p>
        </p:txBody>
      </p:sp>
      <p:sp>
        <p:nvSpPr>
          <p:cNvPr id="15" name="Text 1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6" name="Text 1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Cómo se hace hoy, a mano</a:t>
            </a:r>
            <a:endParaRPr lang="en-US" sz="3200" dirty="0"/>
          </a:p>
        </p:txBody>
      </p:sp>
      <p:sp>
        <p:nvSpPr>
          <p:cNvPr id="3" name="Shape 1"/>
          <p:cNvSpPr/>
          <p:nvPr/>
        </p:nvSpPr>
        <p:spPr>
          <a:xfrm>
            <a:off x="815975" y="1491555"/>
            <a:ext cx="1964630" cy="1513780"/>
          </a:xfrm>
          <a:prstGeom prst="roundRect">
            <a:avLst>
              <a:gd name="adj" fmla="val 6502"/>
            </a:avLst>
          </a:prstGeom>
          <a:solidFill>
            <a:srgbClr val="FFFFFF"/>
          </a:solidFill>
          <a:ln w="6350">
            <a:solidFill>
              <a:srgbClr val="DAD8D0"/>
            </a:solidFill>
            <a:prstDash val="solid"/>
          </a:ln>
        </p:spPr>
      </p:sp>
      <p:sp>
        <p:nvSpPr>
          <p:cNvPr id="4" name="Text 2"/>
          <p:cNvSpPr/>
          <p:nvPr/>
        </p:nvSpPr>
        <p:spPr>
          <a:xfrm>
            <a:off x="99695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1</a:t>
            </a:r>
            <a:endParaRPr lang="en-US" sz="2000" dirty="0"/>
          </a:p>
        </p:txBody>
      </p:sp>
      <p:sp>
        <p:nvSpPr>
          <p:cNvPr id="5" name="Text 3"/>
          <p:cNvSpPr/>
          <p:nvPr/>
        </p:nvSpPr>
        <p:spPr>
          <a:xfrm>
            <a:off x="996950" y="2104330"/>
            <a:ext cx="16534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Abrir la hoja o base de inventario</a:t>
            </a:r>
            <a:endParaRPr lang="en-US" sz="1400" dirty="0"/>
          </a:p>
        </p:txBody>
      </p:sp>
      <p:sp>
        <p:nvSpPr>
          <p:cNvPr id="6" name="Shape 4"/>
          <p:cNvSpPr/>
          <p:nvPr/>
        </p:nvSpPr>
        <p:spPr>
          <a:xfrm>
            <a:off x="2964755" y="1491555"/>
            <a:ext cx="1964730" cy="1513780"/>
          </a:xfrm>
          <a:prstGeom prst="roundRect">
            <a:avLst>
              <a:gd name="adj" fmla="val 6502"/>
            </a:avLst>
          </a:prstGeom>
          <a:solidFill>
            <a:srgbClr val="FFFFFF"/>
          </a:solidFill>
          <a:ln w="6350">
            <a:solidFill>
              <a:srgbClr val="DAD8D0"/>
            </a:solidFill>
            <a:prstDash val="solid"/>
          </a:ln>
        </p:spPr>
      </p:sp>
      <p:sp>
        <p:nvSpPr>
          <p:cNvPr id="7" name="Text 5"/>
          <p:cNvSpPr/>
          <p:nvPr/>
        </p:nvSpPr>
        <p:spPr>
          <a:xfrm>
            <a:off x="3145730" y="1672530"/>
            <a:ext cx="16535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2</a:t>
            </a:r>
            <a:endParaRPr lang="en-US" sz="2000" dirty="0"/>
          </a:p>
        </p:txBody>
      </p:sp>
      <p:sp>
        <p:nvSpPr>
          <p:cNvPr id="8" name="Text 6"/>
          <p:cNvSpPr/>
          <p:nvPr/>
        </p:nvSpPr>
        <p:spPr>
          <a:xfrm>
            <a:off x="3145730" y="2104330"/>
            <a:ext cx="16535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Buscar el producto por nombre</a:t>
            </a:r>
            <a:endParaRPr lang="en-US" sz="1400" dirty="0"/>
          </a:p>
        </p:txBody>
      </p:sp>
      <p:sp>
        <p:nvSpPr>
          <p:cNvPr id="9" name="Shape 7"/>
          <p:cNvSpPr/>
          <p:nvPr/>
        </p:nvSpPr>
        <p:spPr>
          <a:xfrm>
            <a:off x="5113635" y="1491555"/>
            <a:ext cx="1964630" cy="1513780"/>
          </a:xfrm>
          <a:prstGeom prst="roundRect">
            <a:avLst>
              <a:gd name="adj" fmla="val 6502"/>
            </a:avLst>
          </a:prstGeom>
          <a:solidFill>
            <a:srgbClr val="FFFFFF"/>
          </a:solidFill>
          <a:ln w="6350">
            <a:solidFill>
              <a:srgbClr val="DAD8D0"/>
            </a:solidFill>
            <a:prstDash val="solid"/>
          </a:ln>
        </p:spPr>
      </p:sp>
      <p:sp>
        <p:nvSpPr>
          <p:cNvPr id="10" name="Text 8"/>
          <p:cNvSpPr/>
          <p:nvPr/>
        </p:nvSpPr>
        <p:spPr>
          <a:xfrm>
            <a:off x="529461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3</a:t>
            </a:r>
            <a:endParaRPr lang="en-US" sz="2000" dirty="0"/>
          </a:p>
        </p:txBody>
      </p:sp>
      <p:sp>
        <p:nvSpPr>
          <p:cNvPr id="11" name="Text 9"/>
          <p:cNvSpPr/>
          <p:nvPr/>
        </p:nvSpPr>
        <p:spPr>
          <a:xfrm>
            <a:off x="5294610" y="2104330"/>
            <a:ext cx="165348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Comparar el stock con el mínimo, a ojo</a:t>
            </a:r>
            <a:endParaRPr lang="en-US" sz="1400" dirty="0"/>
          </a:p>
        </p:txBody>
      </p:sp>
      <p:sp>
        <p:nvSpPr>
          <p:cNvPr id="12" name="Shape 10"/>
          <p:cNvSpPr/>
          <p:nvPr/>
        </p:nvSpPr>
        <p:spPr>
          <a:xfrm>
            <a:off x="7262416" y="1491555"/>
            <a:ext cx="1964730" cy="1513780"/>
          </a:xfrm>
          <a:prstGeom prst="roundRect">
            <a:avLst>
              <a:gd name="adj" fmla="val 6502"/>
            </a:avLst>
          </a:prstGeom>
          <a:solidFill>
            <a:srgbClr val="FFFFFF"/>
          </a:solidFill>
          <a:ln w="6350">
            <a:solidFill>
              <a:srgbClr val="DAD8D0"/>
            </a:solidFill>
            <a:prstDash val="solid"/>
          </a:ln>
        </p:spPr>
      </p:sp>
      <p:sp>
        <p:nvSpPr>
          <p:cNvPr id="13" name="Text 11"/>
          <p:cNvSpPr/>
          <p:nvPr/>
        </p:nvSpPr>
        <p:spPr>
          <a:xfrm>
            <a:off x="7443391" y="1672530"/>
            <a:ext cx="16535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4</a:t>
            </a:r>
            <a:endParaRPr lang="en-US" sz="2000" dirty="0"/>
          </a:p>
        </p:txBody>
      </p:sp>
      <p:sp>
        <p:nvSpPr>
          <p:cNvPr id="14" name="Text 12"/>
          <p:cNvSpPr/>
          <p:nvPr/>
        </p:nvSpPr>
        <p:spPr>
          <a:xfrm>
            <a:off x="7443391" y="2104330"/>
            <a:ext cx="165358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Calcular el faltante a mano</a:t>
            </a:r>
            <a:endParaRPr lang="en-US" sz="1400" dirty="0"/>
          </a:p>
        </p:txBody>
      </p:sp>
      <p:sp>
        <p:nvSpPr>
          <p:cNvPr id="15" name="Shape 13"/>
          <p:cNvSpPr/>
          <p:nvPr/>
        </p:nvSpPr>
        <p:spPr>
          <a:xfrm>
            <a:off x="9411295" y="1491555"/>
            <a:ext cx="1964630" cy="1513780"/>
          </a:xfrm>
          <a:prstGeom prst="roundRect">
            <a:avLst>
              <a:gd name="adj" fmla="val 6502"/>
            </a:avLst>
          </a:prstGeom>
          <a:solidFill>
            <a:srgbClr val="FFFFFF"/>
          </a:solidFill>
          <a:ln w="6350">
            <a:solidFill>
              <a:srgbClr val="DAD8D0"/>
            </a:solidFill>
            <a:prstDash val="solid"/>
          </a:ln>
        </p:spPr>
      </p:sp>
      <p:sp>
        <p:nvSpPr>
          <p:cNvPr id="16" name="Text 14"/>
          <p:cNvSpPr/>
          <p:nvPr/>
        </p:nvSpPr>
        <p:spPr>
          <a:xfrm>
            <a:off x="9592270" y="1672530"/>
            <a:ext cx="1653480"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0F766E"/>
                </a:solidFill>
                <a:latin typeface="DM Sans" pitchFamily="34" charset="0"/>
                <a:ea typeface="DM Sans" pitchFamily="34" charset="-122"/>
                <a:cs typeface="DM Sans" pitchFamily="34" charset="-120"/>
              </a:rPr>
              <a:t>5</a:t>
            </a:r>
            <a:endParaRPr lang="en-US" sz="2000" dirty="0"/>
          </a:p>
        </p:txBody>
      </p:sp>
      <p:sp>
        <p:nvSpPr>
          <p:cNvPr id="17" name="Text 15"/>
          <p:cNvSpPr/>
          <p:nvPr/>
        </p:nvSpPr>
        <p:spPr>
          <a:xfrm>
            <a:off x="9592270" y="2104330"/>
            <a:ext cx="165348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Anotar la alerta en otro archivo, o no anotarla</a:t>
            </a:r>
            <a:endParaRPr lang="en-US" sz="1400" dirty="0"/>
          </a:p>
        </p:txBody>
      </p:sp>
      <p:sp>
        <p:nvSpPr>
          <p:cNvPr id="18" name="Text 16"/>
          <p:cNvSpPr/>
          <p:nvPr/>
        </p:nvSpPr>
        <p:spPr>
          <a:xfrm>
            <a:off x="812800" y="3237111"/>
            <a:ext cx="1088339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B45309"/>
                </a:solidFill>
                <a:latin typeface="DM Sans" pitchFamily="34" charset="0"/>
                <a:ea typeface="DM Sans" pitchFamily="34" charset="-122"/>
                <a:cs typeface="DM Sans" pitchFamily="34" charset="-120"/>
              </a:rPr>
              <a:t>Dónde aparecen los problemas</a:t>
            </a:r>
            <a:endParaRPr lang="en-US" sz="1800" dirty="0"/>
          </a:p>
        </p:txBody>
      </p:sp>
      <p:sp>
        <p:nvSpPr>
          <p:cNvPr id="19" name="Text 17"/>
          <p:cNvSpPr/>
          <p:nvPr/>
        </p:nvSpPr>
        <p:spPr>
          <a:xfrm>
            <a:off x="81280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Tarea repetitiva:</a:t>
            </a:r>
            <a:r>
              <a:rPr lang="en-US" sz="1400" dirty="0">
                <a:solidFill>
                  <a:srgbClr val="1B2430"/>
                </a:solidFill>
                <a:latin typeface="DM Sans" pitchFamily="34" charset="0"/>
                <a:ea typeface="DM Sans" pitchFamily="34" charset="-122"/>
                <a:cs typeface="DM Sans" pitchFamily="34" charset="-120"/>
              </a:rPr>
              <a:t> se hace producto por producto.</a:t>
            </a:r>
            <a:endParaRPr lang="en-US" sz="1400" dirty="0"/>
          </a:p>
        </p:txBody>
      </p:sp>
      <p:sp>
        <p:nvSpPr>
          <p:cNvPr id="20" name="Text 18"/>
          <p:cNvSpPr/>
          <p:nvPr/>
        </p:nvSpPr>
        <p:spPr>
          <a:xfrm>
            <a:off x="349885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Errores:</a:t>
            </a:r>
            <a:r>
              <a:rPr lang="en-US" sz="1400" dirty="0">
                <a:solidFill>
                  <a:srgbClr val="1B2430"/>
                </a:solidFill>
                <a:latin typeface="DM Sans" pitchFamily="34" charset="0"/>
                <a:ea typeface="DM Sans" pitchFamily="34" charset="-122"/>
                <a:cs typeface="DM Sans" pitchFamily="34" charset="-120"/>
              </a:rPr>
              <a:t> la comparación y el cálculo son manuales.</a:t>
            </a:r>
            <a:endParaRPr lang="en-US" sz="1400" dirty="0"/>
          </a:p>
        </p:txBody>
      </p:sp>
      <p:sp>
        <p:nvSpPr>
          <p:cNvPr id="21" name="Text 19"/>
          <p:cNvSpPr/>
          <p:nvPr/>
        </p:nvSpPr>
        <p:spPr>
          <a:xfrm>
            <a:off x="618490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Datos vacíos</a:t>
            </a:r>
            <a:r>
              <a:rPr lang="en-US" sz="1400" dirty="0">
                <a:solidFill>
                  <a:srgbClr val="1B2430"/>
                </a:solidFill>
                <a:latin typeface="DM Sans" pitchFamily="34" charset="0"/>
                <a:ea typeface="DM Sans" pitchFamily="34" charset="-122"/>
                <a:cs typeface="DM Sans" pitchFamily="34" charset="-120"/>
              </a:rPr>
              <a:t> que pasan inadvertidos.</a:t>
            </a:r>
            <a:endParaRPr lang="en-US" sz="1400" dirty="0"/>
          </a:p>
        </p:txBody>
      </p:sp>
      <p:sp>
        <p:nvSpPr>
          <p:cNvPr id="22" name="Text 20"/>
          <p:cNvSpPr/>
          <p:nvPr/>
        </p:nvSpPr>
        <p:spPr>
          <a:xfrm>
            <a:off x="8870950" y="3739952"/>
            <a:ext cx="2508250" cy="835620"/>
          </a:xfrm>
          <a:prstGeom prst="roundRect">
            <a:avLst>
              <a:gd name="adj" fmla="val 12159"/>
            </a:avLst>
          </a:prstGeom>
          <a:solidFill>
            <a:srgbClr val="FBEBD7"/>
          </a:solidFill>
          <a:ln/>
        </p:spPr>
        <p:txBody>
          <a:bodyPr wrap="square" lIns="148042" tIns="148042" rIns="83463" bIns="12264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Sin registro:</a:t>
            </a:r>
            <a:r>
              <a:rPr lang="en-US" sz="1400" dirty="0">
                <a:solidFill>
                  <a:srgbClr val="1B2430"/>
                </a:solidFill>
                <a:latin typeface="DM Sans" pitchFamily="34" charset="0"/>
                <a:ea typeface="DM Sans" pitchFamily="34" charset="-122"/>
                <a:cs typeface="DM Sans" pitchFamily="34" charset="-120"/>
              </a:rPr>
              <a:t> alertas olvidadas o repetidas.</a:t>
            </a:r>
            <a:endParaRPr lang="en-US" sz="1400" dirty="0"/>
          </a:p>
        </p:txBody>
      </p:sp>
      <p:sp>
        <p:nvSpPr>
          <p:cNvPr id="23" name="Text 2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4" name="Text 2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Objetivo y alcance de esta versión</a:t>
            </a:r>
            <a:endParaRPr lang="en-US" sz="3200" dirty="0"/>
          </a:p>
        </p:txBody>
      </p:sp>
      <p:sp>
        <p:nvSpPr>
          <p:cNvPr id="3" name="Text 1"/>
          <p:cNvSpPr/>
          <p:nvPr/>
        </p:nvSpPr>
        <p:spPr>
          <a:xfrm>
            <a:off x="812800" y="1488380"/>
            <a:ext cx="10883392" cy="665361"/>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1B2430"/>
                </a:solidFill>
                <a:latin typeface="DM Sans" pitchFamily="34" charset="0"/>
                <a:ea typeface="DM Sans" pitchFamily="34" charset="-122"/>
                <a:cs typeface="DM Sans" pitchFamily="34" charset="-120"/>
              </a:rPr>
              <a:t>Al recibir el nombre de un producto, el sistema decide si hay que reponerlo, calcula cuánto falta, registra la alerta sin duplicarla y guarda cualquier fallo técnico.</a:t>
            </a:r>
            <a:endParaRPr lang="en-US" sz="1800" dirty="0"/>
          </a:p>
        </p:txBody>
      </p:sp>
      <p:sp>
        <p:nvSpPr>
          <p:cNvPr id="4" name="Shape 2"/>
          <p:cNvSpPr/>
          <p:nvPr/>
        </p:nvSpPr>
        <p:spPr>
          <a:xfrm>
            <a:off x="812800" y="2356941"/>
            <a:ext cx="5181600" cy="2121892"/>
          </a:xfrm>
          <a:prstGeom prst="roundRect">
            <a:avLst>
              <a:gd name="adj" fmla="val 4788"/>
            </a:avLst>
          </a:prstGeom>
          <a:solidFill>
            <a:srgbClr val="DCEFEC"/>
          </a:solidFill>
          <a:ln/>
        </p:spPr>
      </p:sp>
      <p:sp>
        <p:nvSpPr>
          <p:cNvPr id="5" name="Text 3"/>
          <p:cNvSpPr/>
          <p:nvPr/>
        </p:nvSpPr>
        <p:spPr>
          <a:xfrm>
            <a:off x="1041400" y="2585541"/>
            <a:ext cx="486613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B5B54"/>
                </a:solidFill>
                <a:latin typeface="DM Sans" pitchFamily="34" charset="0"/>
                <a:ea typeface="DM Sans" pitchFamily="34" charset="-122"/>
                <a:cs typeface="DM Sans" pitchFamily="34" charset="-120"/>
              </a:rPr>
              <a:t>Esta versión sí incluye</a:t>
            </a:r>
            <a:endParaRPr lang="en-US" sz="1800" dirty="0"/>
          </a:p>
        </p:txBody>
      </p:sp>
      <p:sp>
        <p:nvSpPr>
          <p:cNvPr id="6" name="Text 4"/>
          <p:cNvSpPr/>
          <p:nvPr/>
        </p:nvSpPr>
        <p:spPr>
          <a:xfrm>
            <a:off x="1125982" y="2961382"/>
            <a:ext cx="4773930" cy="131425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Consulta de un producto por nombre</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Validación de los datos del producto</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Prioridad Alta, Mediana o Baja</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Alerta registrada sin duplicados</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Reintentos y registro de fallos técnicos</a:t>
            </a:r>
            <a:endParaRPr lang="en-US" sz="1400" dirty="0"/>
          </a:p>
        </p:txBody>
      </p:sp>
      <p:sp>
        <p:nvSpPr>
          <p:cNvPr id="7" name="Shape 5"/>
          <p:cNvSpPr/>
          <p:nvPr/>
        </p:nvSpPr>
        <p:spPr>
          <a:xfrm>
            <a:off x="6197600" y="2356941"/>
            <a:ext cx="5181600" cy="2121892"/>
          </a:xfrm>
          <a:prstGeom prst="roundRect">
            <a:avLst>
              <a:gd name="adj" fmla="val 4788"/>
            </a:avLst>
          </a:prstGeom>
          <a:solidFill>
            <a:srgbClr val="FBEBD7"/>
          </a:solidFill>
          <a:ln/>
        </p:spPr>
      </p:sp>
      <p:sp>
        <p:nvSpPr>
          <p:cNvPr id="8" name="Text 6"/>
          <p:cNvSpPr/>
          <p:nvPr/>
        </p:nvSpPr>
        <p:spPr>
          <a:xfrm>
            <a:off x="6426200" y="2585541"/>
            <a:ext cx="486613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A3F06"/>
                </a:solidFill>
                <a:latin typeface="DM Sans" pitchFamily="34" charset="0"/>
                <a:ea typeface="DM Sans" pitchFamily="34" charset="-122"/>
                <a:cs typeface="DM Sans" pitchFamily="34" charset="-120"/>
              </a:rPr>
              <a:t>Todavía no pretende resolver</a:t>
            </a:r>
            <a:endParaRPr lang="en-US" sz="1800" dirty="0"/>
          </a:p>
        </p:txBody>
      </p:sp>
      <p:sp>
        <p:nvSpPr>
          <p:cNvPr id="9" name="Text 7"/>
          <p:cNvSpPr/>
          <p:nvPr/>
        </p:nvSpPr>
        <p:spPr>
          <a:xfrm>
            <a:off x="6510782" y="2961382"/>
            <a:ext cx="4773930" cy="1314252"/>
          </a:xfrm>
          <a:prstGeom prst="rect">
            <a:avLst/>
          </a:prstGeom>
          <a:noFill/>
          <a:ln/>
        </p:spPr>
        <p:txBody>
          <a:bodyPr wrap="square" lIns="0" tIns="0" rIns="0" bIns="0" rtlCol="0" anchor="t">
            <a:normAutofit/>
          </a:bodyPr>
          <a:lstStyle/>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Avisos por correo o chat</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Actualizar el stock o comprar productos</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Revisar todo el inventario de forma programada</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Una pantalla para el usuario</a:t>
            </a:r>
            <a:endParaRPr lang="en-US" sz="1400" dirty="0"/>
          </a:p>
          <a:p>
            <a:pPr marL="169418" indent="-169418" algn="l">
              <a:lnSpc>
                <a:spcPts val="2030"/>
              </a:lnSpc>
              <a:buSzPct val="100000"/>
              <a:buChar char="•"/>
            </a:pPr>
            <a:r>
              <a:rPr lang="en-US" sz="1400" dirty="0">
                <a:solidFill>
                  <a:srgbClr val="1B2430"/>
                </a:solidFill>
                <a:latin typeface="DM Sans" pitchFamily="34" charset="0"/>
                <a:ea typeface="DM Sans" pitchFamily="34" charset="-122"/>
                <a:cs typeface="DM Sans" pitchFamily="34" charset="-120"/>
              </a:rPr>
              <a:t>Inteligencia artificial</a:t>
            </a:r>
            <a:endParaRPr lang="en-US" sz="14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La solución automatizada</a:t>
            </a:r>
            <a:endParaRPr lang="en-US" sz="3200" dirty="0"/>
          </a:p>
        </p:txBody>
      </p:sp>
      <p:sp>
        <p:nvSpPr>
          <p:cNvPr id="3" name="Shape 1"/>
          <p:cNvSpPr/>
          <p:nvPr/>
        </p:nvSpPr>
        <p:spPr>
          <a:xfrm>
            <a:off x="815975" y="1466155"/>
            <a:ext cx="3075484" cy="1417241"/>
          </a:xfrm>
          <a:prstGeom prst="roundRect">
            <a:avLst>
              <a:gd name="adj" fmla="val 6945"/>
            </a:avLst>
          </a:prstGeom>
          <a:solidFill>
            <a:srgbClr val="FFFFFF"/>
          </a:solidFill>
          <a:ln w="6350">
            <a:solidFill>
              <a:srgbClr val="DAD8D0"/>
            </a:solidFill>
            <a:prstDash val="solid"/>
          </a:ln>
        </p:spPr>
      </p:sp>
      <p:sp>
        <p:nvSpPr>
          <p:cNvPr id="4" name="Text 2"/>
          <p:cNvSpPr/>
          <p:nvPr/>
        </p:nvSpPr>
        <p:spPr>
          <a:xfrm>
            <a:off x="996950" y="1647130"/>
            <a:ext cx="279494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Cliente</a:t>
            </a:r>
            <a:endParaRPr lang="en-US" sz="1700" dirty="0"/>
          </a:p>
        </p:txBody>
      </p:sp>
      <p:sp>
        <p:nvSpPr>
          <p:cNvPr id="5" name="Text 3"/>
          <p:cNvSpPr/>
          <p:nvPr/>
        </p:nvSpPr>
        <p:spPr>
          <a:xfrm>
            <a:off x="996950" y="1982391"/>
            <a:ext cx="2794940" cy="74543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Un navegador que envía el nombre de un producto en una petición GET.</a:t>
            </a:r>
            <a:endParaRPr lang="en-US" sz="1400" dirty="0"/>
          </a:p>
        </p:txBody>
      </p:sp>
      <p:pic>
        <p:nvPicPr>
          <p:cNvPr id="6" name="Image 0" descr="arrow-right"/>
          <p:cNvPicPr>
            <a:picLocks noChangeAspect="1"/>
          </p:cNvPicPr>
          <p:nvPr/>
        </p:nvPicPr>
        <p:blipFill>
          <a:blip r:embed="rId3"/>
          <a:srcRect/>
          <a:stretch/>
        </p:blipFill>
        <p:spPr>
          <a:xfrm>
            <a:off x="4047034" y="2060476"/>
            <a:ext cx="355600" cy="228600"/>
          </a:xfrm>
          <a:prstGeom prst="rect">
            <a:avLst/>
          </a:prstGeom>
        </p:spPr>
      </p:pic>
      <p:sp>
        <p:nvSpPr>
          <p:cNvPr id="7" name="Shape 4"/>
          <p:cNvSpPr/>
          <p:nvPr/>
        </p:nvSpPr>
        <p:spPr>
          <a:xfrm>
            <a:off x="4558209" y="1466155"/>
            <a:ext cx="3075583" cy="1417241"/>
          </a:xfrm>
          <a:prstGeom prst="roundRect">
            <a:avLst>
              <a:gd name="adj" fmla="val 6945"/>
            </a:avLst>
          </a:prstGeom>
          <a:solidFill>
            <a:srgbClr val="FFFFFF"/>
          </a:solidFill>
          <a:ln w="6350">
            <a:solidFill>
              <a:srgbClr val="DAD8D0"/>
            </a:solidFill>
            <a:prstDash val="solid"/>
          </a:ln>
        </p:spPr>
      </p:sp>
      <p:sp>
        <p:nvSpPr>
          <p:cNvPr id="8" name="Text 5"/>
          <p:cNvSpPr/>
          <p:nvPr/>
        </p:nvSpPr>
        <p:spPr>
          <a:xfrm>
            <a:off x="4739184" y="1647130"/>
            <a:ext cx="2795042"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n8n</a:t>
            </a:r>
            <a:endParaRPr lang="en-US" sz="1700" dirty="0"/>
          </a:p>
        </p:txBody>
      </p:sp>
      <p:sp>
        <p:nvSpPr>
          <p:cNvPr id="9" name="Text 6"/>
          <p:cNvSpPr/>
          <p:nvPr/>
        </p:nvSpPr>
        <p:spPr>
          <a:xfrm>
            <a:off x="4739184" y="1982391"/>
            <a:ext cx="2795042"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Recibe la petición, consulta, valida, decide y responde.</a:t>
            </a:r>
            <a:endParaRPr lang="en-US" sz="1400" dirty="0"/>
          </a:p>
        </p:txBody>
      </p:sp>
      <p:pic>
        <p:nvPicPr>
          <p:cNvPr id="10" name="Image 1" descr="arrow-right"/>
          <p:cNvPicPr>
            <a:picLocks noChangeAspect="1"/>
          </p:cNvPicPr>
          <p:nvPr/>
        </p:nvPicPr>
        <p:blipFill>
          <a:blip r:embed="rId3"/>
          <a:srcRect/>
          <a:stretch/>
        </p:blipFill>
        <p:spPr>
          <a:xfrm>
            <a:off x="7789366" y="2060476"/>
            <a:ext cx="355600" cy="228600"/>
          </a:xfrm>
          <a:prstGeom prst="rect">
            <a:avLst/>
          </a:prstGeom>
        </p:spPr>
      </p:pic>
      <p:sp>
        <p:nvSpPr>
          <p:cNvPr id="11" name="Shape 7"/>
          <p:cNvSpPr/>
          <p:nvPr/>
        </p:nvSpPr>
        <p:spPr>
          <a:xfrm>
            <a:off x="8300541" y="1466155"/>
            <a:ext cx="3075484" cy="1417241"/>
          </a:xfrm>
          <a:prstGeom prst="roundRect">
            <a:avLst>
              <a:gd name="adj" fmla="val 6945"/>
            </a:avLst>
          </a:prstGeom>
          <a:solidFill>
            <a:srgbClr val="FFFFFF"/>
          </a:solidFill>
          <a:ln w="6350">
            <a:solidFill>
              <a:srgbClr val="DAD8D0"/>
            </a:solidFill>
            <a:prstDash val="solid"/>
          </a:ln>
        </p:spPr>
      </p:sp>
      <p:sp>
        <p:nvSpPr>
          <p:cNvPr id="12" name="Text 8"/>
          <p:cNvSpPr/>
          <p:nvPr/>
        </p:nvSpPr>
        <p:spPr>
          <a:xfrm>
            <a:off x="8481516" y="1647130"/>
            <a:ext cx="2794940" cy="2844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766E"/>
                </a:solidFill>
                <a:latin typeface="DM Sans" pitchFamily="34" charset="0"/>
                <a:ea typeface="DM Sans" pitchFamily="34" charset="-122"/>
                <a:cs typeface="DM Sans" pitchFamily="34" charset="-120"/>
              </a:rPr>
              <a:t>Supabase</a:t>
            </a:r>
            <a:endParaRPr lang="en-US" sz="1700" dirty="0"/>
          </a:p>
        </p:txBody>
      </p:sp>
      <p:sp>
        <p:nvSpPr>
          <p:cNvPr id="13" name="Text 9"/>
          <p:cNvSpPr/>
          <p:nvPr/>
        </p:nvSpPr>
        <p:spPr>
          <a:xfrm>
            <a:off x="8481516" y="1982391"/>
            <a:ext cx="2794940" cy="505420"/>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B2430"/>
                </a:solidFill>
                <a:latin typeface="DM Sans" pitchFamily="34" charset="0"/>
                <a:ea typeface="DM Sans" pitchFamily="34" charset="-122"/>
                <a:cs typeface="DM Sans" pitchFamily="34" charset="-120"/>
              </a:rPr>
              <a:t>Base de datos con el inventario, las alertas y los incidentes.</a:t>
            </a:r>
            <a:endParaRPr lang="en-US" sz="1400" dirty="0"/>
          </a:p>
        </p:txBody>
      </p:sp>
      <p:sp>
        <p:nvSpPr>
          <p:cNvPr id="14" name="Text 10"/>
          <p:cNvSpPr/>
          <p:nvPr/>
        </p:nvSpPr>
        <p:spPr>
          <a:xfrm>
            <a:off x="812800" y="3089771"/>
            <a:ext cx="10883392"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B2430"/>
                </a:solidFill>
                <a:latin typeface="DM Sans" pitchFamily="34" charset="0"/>
                <a:ea typeface="DM Sans" pitchFamily="34" charset="-122"/>
                <a:cs typeface="DM Sans" pitchFamily="34" charset="-120"/>
              </a:rPr>
              <a:t>Términos que aparecen en esta presentación</a:t>
            </a:r>
            <a:endParaRPr lang="en-US" sz="1800" dirty="0"/>
          </a:p>
        </p:txBody>
      </p:sp>
      <p:sp>
        <p:nvSpPr>
          <p:cNvPr id="15" name="Text 11"/>
          <p:cNvSpPr/>
          <p:nvPr/>
        </p:nvSpPr>
        <p:spPr>
          <a:xfrm>
            <a:off x="812800" y="356721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Webhook:</a:t>
            </a:r>
            <a:r>
              <a:rPr lang="en-US" sz="1400" dirty="0">
                <a:solidFill>
                  <a:srgbClr val="1B2430"/>
                </a:solidFill>
                <a:latin typeface="DM Sans" pitchFamily="34" charset="0"/>
                <a:ea typeface="DM Sans" pitchFamily="34" charset="-122"/>
                <a:cs typeface="DM Sans" pitchFamily="34" charset="-120"/>
              </a:rPr>
              <a:t> dirección web que n8n deja escuchando; al llamarla, el flujo se activa.</a:t>
            </a:r>
            <a:endParaRPr lang="en-US" sz="1400" dirty="0"/>
          </a:p>
        </p:txBody>
      </p:sp>
      <p:sp>
        <p:nvSpPr>
          <p:cNvPr id="16" name="Text 12"/>
          <p:cNvSpPr/>
          <p:nvPr/>
        </p:nvSpPr>
        <p:spPr>
          <a:xfrm>
            <a:off x="6159500" y="356721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API:</a:t>
            </a:r>
            <a:r>
              <a:rPr lang="en-US" sz="1400" dirty="0">
                <a:solidFill>
                  <a:srgbClr val="1B2430"/>
                </a:solidFill>
                <a:latin typeface="DM Sans" pitchFamily="34" charset="0"/>
                <a:ea typeface="DM Sans" pitchFamily="34" charset="-122"/>
                <a:cs typeface="DM Sans" pitchFamily="34" charset="-120"/>
              </a:rPr>
              <a:t> forma de pedirle o enviarle datos a otro servicio. Aquí, la de Supabase.</a:t>
            </a:r>
            <a:endParaRPr lang="en-US" sz="1400" dirty="0"/>
          </a:p>
        </p:txBody>
      </p:sp>
      <p:sp>
        <p:nvSpPr>
          <p:cNvPr id="17" name="Text 13"/>
          <p:cNvSpPr/>
          <p:nvPr/>
        </p:nvSpPr>
        <p:spPr>
          <a:xfrm>
            <a:off x="812800" y="445363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HTTP Request:</a:t>
            </a:r>
            <a:r>
              <a:rPr lang="en-US" sz="1400" dirty="0">
                <a:solidFill>
                  <a:srgbClr val="1B2430"/>
                </a:solidFill>
                <a:latin typeface="DM Sans" pitchFamily="34" charset="0"/>
                <a:ea typeface="DM Sans" pitchFamily="34" charset="-122"/>
                <a:cs typeface="DM Sans" pitchFamily="34" charset="-120"/>
              </a:rPr>
              <a:t> nodo de n8n que hace esa llamada para leer o escribir.</a:t>
            </a:r>
            <a:endParaRPr lang="en-US" sz="1400" dirty="0"/>
          </a:p>
        </p:txBody>
      </p:sp>
      <p:sp>
        <p:nvSpPr>
          <p:cNvPr id="18" name="Text 14"/>
          <p:cNvSpPr/>
          <p:nvPr/>
        </p:nvSpPr>
        <p:spPr>
          <a:xfrm>
            <a:off x="6159500" y="4453632"/>
            <a:ext cx="5219700" cy="759420"/>
          </a:xfrm>
          <a:prstGeom prst="roundRect">
            <a:avLst>
              <a:gd name="adj" fmla="val 11706"/>
            </a:avLst>
          </a:prstGeom>
          <a:solidFill>
            <a:srgbClr val="DCEFEC"/>
          </a:solidFill>
          <a:ln/>
        </p:spPr>
        <p:txBody>
          <a:bodyPr wrap="square" lIns="151762" tIns="113662" rIns="5839" bIns="88262"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Subworkflow:</a:t>
            </a:r>
            <a:r>
              <a:rPr lang="en-US" sz="1400" dirty="0">
                <a:solidFill>
                  <a:srgbClr val="1B2430"/>
                </a:solidFill>
                <a:latin typeface="DM Sans" pitchFamily="34" charset="0"/>
                <a:ea typeface="DM Sans" pitchFamily="34" charset="-122"/>
                <a:cs typeface="DM Sans" pitchFamily="34" charset="-120"/>
              </a:rPr>
              <a:t> flujo pequeño que otro llama; aquí limpia y valida el producto.</a:t>
            </a:r>
            <a:endParaRPr lang="en-US" sz="1400" dirty="0"/>
          </a:p>
        </p:txBody>
      </p:sp>
      <p:sp>
        <p:nvSpPr>
          <p:cNvPr id="19"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Recorrido de un caso completo</a:t>
            </a:r>
            <a:endParaRPr lang="en-US" sz="3200" dirty="0"/>
          </a:p>
        </p:txBody>
      </p:sp>
      <p:sp>
        <p:nvSpPr>
          <p:cNvPr id="3" name="Text 1"/>
          <p:cNvSpPr/>
          <p:nvPr/>
        </p:nvSpPr>
        <p:spPr>
          <a:xfrm>
            <a:off x="812800" y="1462980"/>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B2430"/>
                </a:solidFill>
                <a:latin typeface="DM Sans" pitchFamily="34" charset="0"/>
                <a:ea typeface="DM Sans" pitchFamily="34" charset="-122"/>
                <a:cs typeface="DM Sans" pitchFamily="34" charset="-120"/>
              </a:rPr>
              <a:t>Entrada con datos ficticios: </a:t>
            </a:r>
            <a:r>
              <a:rPr lang="en-US" sz="1500" b="1" dirty="0">
                <a:solidFill>
                  <a:srgbClr val="0F766E"/>
                </a:solidFill>
                <a:latin typeface="DM Sans" pitchFamily="34" charset="0"/>
                <a:ea typeface="DM Sans" pitchFamily="34" charset="-122"/>
                <a:cs typeface="DM Sans" pitchFamily="34" charset="-120"/>
              </a:rPr>
              <a:t>GET /revisar-stock?producto=Peluche Stitch</a:t>
            </a:r>
            <a:endParaRPr lang="en-US" sz="1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5580"/>
          <a:ext cx="10553700" cy="2577407"/>
        </p:xfrm>
        <a:graphic>
          <a:graphicData uri="http://schemas.openxmlformats.org/drawingml/2006/table">
            <a:tbl>
              <a:tblPr/>
              <a:tblGrid>
                <a:gridCol w="1899666">
                  <a:extLst>
                    <a:ext uri="{9D8B030D-6E8A-4147-A177-3AD203B41FA5}">
                      <a16:colId xmlns:a16="http://schemas.microsoft.com/office/drawing/2014/main" val="20000"/>
                    </a:ext>
                  </a:extLst>
                </a:gridCol>
                <a:gridCol w="8654034">
                  <a:extLst>
                    <a:ext uri="{9D8B030D-6E8A-4147-A177-3AD203B41FA5}">
                      <a16:colId xmlns:a16="http://schemas.microsoft.com/office/drawing/2014/main" val="20001"/>
                    </a:ext>
                  </a:extLst>
                </a:gridCol>
              </a:tblGrid>
              <a:tr h="368201">
                <a:tc>
                  <a:txBody>
                    <a:bodyPr/>
                    <a:lstStyle/>
                    <a:p>
                      <a:pPr marL="0" indent="0">
                        <a:lnSpc>
                          <a:spcPts val="1960"/>
                        </a:lnSpc>
                        <a:buNone/>
                      </a:pPr>
                      <a:r>
                        <a:rPr lang="en-US" sz="1400" b="1" dirty="0">
                          <a:solidFill>
                            <a:srgbClr val="F6F5F1"/>
                          </a:solidFill>
                          <a:latin typeface="DM Sans" pitchFamily="34" charset="0"/>
                          <a:ea typeface="DM Sans" pitchFamily="34" charset="-122"/>
                          <a:cs typeface="DM Sans" pitchFamily="34" charset="-120"/>
                        </a:rPr>
                        <a:t>Paso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960"/>
                        </a:lnSpc>
                        <a:buNone/>
                      </a:pPr>
                      <a:r>
                        <a:rPr lang="en-US" sz="1400" b="1" dirty="0">
                          <a:solidFill>
                            <a:srgbClr val="F6F5F1"/>
                          </a:solidFill>
                          <a:latin typeface="DM Sans" pitchFamily="34" charset="0"/>
                          <a:ea typeface="DM Sans" pitchFamily="34" charset="-122"/>
                          <a:cs typeface="DM Sans" pitchFamily="34" charset="-120"/>
                        </a:rPr>
                        <a:t>Qué ocurre</a:t>
                      </a:r>
                      <a:endParaRPr lang="en-US" sz="1400" dirty="0">
                        <a:latin typeface="DM Sans" charset="0"/>
                        <a:ea typeface="DM Sans" charset="0"/>
                        <a:cs typeface="DM Sans" charset="0"/>
                      </a:endParaRPr>
                    </a:p>
                  </a:txBody>
                  <a:tcPr marL="62230" marR="62230" marT="62230" marB="62230">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1. Entrada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El Webhook recibe producto = Peluche Stitch.</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2. Consulta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HTTP Request lee la tabla: stock 3, stock mínimo 10.</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3. Validación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El subworkflow confirma los datos y los convierte a número.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4. Decisión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Faltante = 10 − 3 = 7. Como 3 es menor que 10, la prioridad es Alta.</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4"/>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5. Registro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Se guarda la alerta 1-2026-10-24 en la tabla alertas_reposicion.</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5"/>
                  </a:ext>
                </a:extLst>
              </a:tr>
              <a:tr h="368201">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6. Resultado</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960"/>
                        </a:lnSpc>
                        <a:buNone/>
                      </a:pPr>
                      <a:r>
                        <a:rPr lang="en-US" sz="1400" dirty="0">
                          <a:solidFill>
                            <a:srgbClr val="1B2430"/>
                          </a:solidFill>
                          <a:latin typeface="DM Sans" pitchFamily="34" charset="0"/>
                          <a:ea typeface="DM Sans" pitchFamily="34" charset="-122"/>
                          <a:cs typeface="DM Sans" pitchFamily="34" charset="-120"/>
                        </a:rPr>
                        <a:t>Respuesta: Stock crítico, Reponer inmediatamente, alerta_registrada true.</a:t>
                      </a:r>
                      <a:endParaRPr lang="en-US" sz="1400" dirty="0">
                        <a:latin typeface="DM Sans" charset="0"/>
                        <a:ea typeface="DM Sans" charset="0"/>
                        <a:cs typeface="DM Sans" charset="0"/>
                      </a:endParaRPr>
                    </a:p>
                  </a:txBody>
                  <a:tcPr marL="62230" marR="62230" marT="62230" marB="62230">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6" name="Text 3"/>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Resultado real: respuesta y registro</a:t>
            </a:r>
            <a:endParaRPr lang="en-US" sz="3000" dirty="0"/>
          </a:p>
        </p:txBody>
      </p:sp>
      <p:sp>
        <p:nvSpPr>
          <p:cNvPr id="3" name="Text 1"/>
          <p:cNvSpPr/>
          <p:nvPr/>
        </p:nvSpPr>
        <p:spPr>
          <a:xfrm>
            <a:off x="812800" y="1384300"/>
            <a:ext cx="10883392"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Lo que devolvió el flujo:</a:t>
            </a:r>
            <a:r>
              <a:rPr lang="en-US" sz="1400" dirty="0">
                <a:solidFill>
                  <a:srgbClr val="1B2430"/>
                </a:solidFill>
                <a:latin typeface="DM Sans" pitchFamily="34" charset="0"/>
                <a:ea typeface="DM Sans" pitchFamily="34" charset="-122"/>
                <a:cs typeface="DM Sans" pitchFamily="34" charset="-120"/>
              </a:rPr>
              <a:t> faltante 7, prioridad Alta, estado Stock crítico y alerta_registrada true.</a:t>
            </a:r>
            <a:endParaRPr lang="en-US" sz="1400" dirty="0"/>
          </a:p>
        </p:txBody>
      </p:sp>
      <p:sp>
        <p:nvSpPr>
          <p:cNvPr id="4" name="Shape 2"/>
          <p:cNvSpPr/>
          <p:nvPr/>
        </p:nvSpPr>
        <p:spPr>
          <a:xfrm>
            <a:off x="812800" y="1776710"/>
            <a:ext cx="10566400" cy="1593850"/>
          </a:xfrm>
          <a:prstGeom prst="roundRect">
            <a:avLst>
              <a:gd name="adj" fmla="val 3187"/>
            </a:avLst>
          </a:prstGeom>
          <a:solidFill>
            <a:srgbClr val="FFFFFF"/>
          </a:solidFill>
          <a:ln/>
        </p:spPr>
      </p:sp>
      <p:pic>
        <p:nvPicPr>
          <p:cNvPr id="5" name="Image 0" descr="Respuesta del Webhook para Peluche Stitch con alerta_id 1-2026-10-24, faltante 7 y prioridad Alta"/>
          <p:cNvPicPr>
            <a:picLocks noChangeAspect="1"/>
          </p:cNvPicPr>
          <p:nvPr/>
        </p:nvPicPr>
        <p:blipFill>
          <a:blip r:embed="rId3"/>
          <a:srcRect l="-329" r="-329"/>
          <a:stretch/>
        </p:blipFill>
        <p:spPr>
          <a:xfrm>
            <a:off x="819150" y="1783060"/>
            <a:ext cx="10553700" cy="1581150"/>
          </a:xfrm>
          <a:prstGeom prst="roundRect">
            <a:avLst>
              <a:gd name="adj" fmla="val 2811"/>
            </a:avLst>
          </a:prstGeom>
        </p:spPr>
      </p:pic>
      <p:sp>
        <p:nvSpPr>
          <p:cNvPr id="6" name="Shape 3"/>
          <p:cNvSpPr/>
          <p:nvPr/>
        </p:nvSpPr>
        <p:spPr>
          <a:xfrm>
            <a:off x="815975" y="1779885"/>
            <a:ext cx="10560050" cy="1587500"/>
          </a:xfrm>
          <a:prstGeom prst="roundRect">
            <a:avLst>
              <a:gd name="adj" fmla="val 3000"/>
            </a:avLst>
          </a:prstGeom>
          <a:noFill/>
          <a:ln w="6350">
            <a:solidFill>
              <a:srgbClr val="DAD8D0"/>
            </a:solidFill>
            <a:prstDash val="solid"/>
          </a:ln>
        </p:spPr>
      </p:sp>
      <p:sp>
        <p:nvSpPr>
          <p:cNvPr id="7" name="Text 4"/>
          <p:cNvSpPr/>
          <p:nvPr/>
        </p:nvSpPr>
        <p:spPr>
          <a:xfrm>
            <a:off x="812800" y="3522960"/>
            <a:ext cx="10883392" cy="26541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1B2430"/>
                </a:solidFill>
                <a:latin typeface="DM Sans" pitchFamily="34" charset="0"/>
                <a:ea typeface="DM Sans" pitchFamily="34" charset="-122"/>
                <a:cs typeface="DM Sans" pitchFamily="34" charset="-120"/>
              </a:rPr>
              <a:t>Lo que quedó guardado en Supabase:</a:t>
            </a:r>
            <a:r>
              <a:rPr lang="en-US" sz="1400" dirty="0">
                <a:solidFill>
                  <a:srgbClr val="1B2430"/>
                </a:solidFill>
                <a:latin typeface="DM Sans" pitchFamily="34" charset="0"/>
                <a:ea typeface="DM Sans" pitchFamily="34" charset="-122"/>
                <a:cs typeface="DM Sans" pitchFamily="34" charset="-120"/>
              </a:rPr>
              <a:t> una fila de Peluche Stitch en la tabla de alertas.</a:t>
            </a:r>
            <a:endParaRPr lang="en-US" sz="1400" dirty="0"/>
          </a:p>
        </p:txBody>
      </p:sp>
      <p:sp>
        <p:nvSpPr>
          <p:cNvPr id="8" name="Shape 5"/>
          <p:cNvSpPr/>
          <p:nvPr/>
        </p:nvSpPr>
        <p:spPr>
          <a:xfrm>
            <a:off x="812800" y="3915370"/>
            <a:ext cx="6985000" cy="1352550"/>
          </a:xfrm>
          <a:prstGeom prst="roundRect">
            <a:avLst>
              <a:gd name="adj" fmla="val 3756"/>
            </a:avLst>
          </a:prstGeom>
          <a:solidFill>
            <a:srgbClr val="FFFFFF"/>
          </a:solidFill>
          <a:ln/>
        </p:spPr>
      </p:sp>
      <p:pic>
        <p:nvPicPr>
          <p:cNvPr id="9" name="Image 1" descr="Tabla alertas_reposicion en Supabase con una fila de Peluche Stitch, stock 3, mínimo 10 y faltante 7"/>
          <p:cNvPicPr>
            <a:picLocks noChangeAspect="1"/>
          </p:cNvPicPr>
          <p:nvPr/>
        </p:nvPicPr>
        <p:blipFill>
          <a:blip r:embed="rId4"/>
          <a:srcRect l="-476" r="-476"/>
          <a:stretch/>
        </p:blipFill>
        <p:spPr>
          <a:xfrm>
            <a:off x="819149" y="3921720"/>
            <a:ext cx="9054077" cy="1739900"/>
          </a:xfrm>
          <a:prstGeom prst="roundRect">
            <a:avLst>
              <a:gd name="adj" fmla="val 3318"/>
            </a:avLst>
          </a:prstGeom>
        </p:spPr>
      </p:pic>
      <p:sp>
        <p:nvSpPr>
          <p:cNvPr id="10" name="Shape 6"/>
          <p:cNvSpPr/>
          <p:nvPr/>
        </p:nvSpPr>
        <p:spPr>
          <a:xfrm>
            <a:off x="815975" y="3918545"/>
            <a:ext cx="6978650" cy="1346200"/>
          </a:xfrm>
          <a:prstGeom prst="roundRect">
            <a:avLst>
              <a:gd name="adj" fmla="val 3538"/>
            </a:avLst>
          </a:prstGeom>
          <a:noFill/>
          <a:ln w="6350">
            <a:solidFill>
              <a:srgbClr val="DAD8D0"/>
            </a:solidFill>
            <a:prstDash val="solid"/>
          </a:ln>
        </p:spPr>
      </p:sp>
      <p:sp>
        <p:nvSpPr>
          <p:cNvPr id="11" name="Text 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2" name="Text 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Integraciones: qué se intercambia con Supabase</a:t>
            </a:r>
            <a:endParaRPr lang="en-US" sz="3200" dirty="0"/>
          </a:p>
        </p:txBody>
      </p:sp>
      <p:sp>
        <p:nvSpPr>
          <p:cNvPr id="3" name="Text 1"/>
          <p:cNvSpPr/>
          <p:nvPr/>
        </p:nvSpPr>
        <p:spPr>
          <a:xfrm>
            <a:off x="812800" y="1437580"/>
            <a:ext cx="10883392"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5606E"/>
                </a:solidFill>
                <a:latin typeface="DM Sans" pitchFamily="34" charset="0"/>
                <a:ea typeface="DM Sans" pitchFamily="34" charset="-122"/>
                <a:cs typeface="DM Sans" pitchFamily="34" charset="-120"/>
              </a:rPr>
              <a:t>Las tres llamadas usan el nodo HTTP Request contra la API de Supabase: </a:t>
            </a:r>
            <a:r>
              <a:rPr lang="en-US" sz="1300" dirty="0">
                <a:solidFill>
                  <a:srgbClr val="0F766E"/>
                </a:solidFill>
                <a:latin typeface="DM Sans" pitchFamily="34" charset="0"/>
                <a:ea typeface="DM Sans" pitchFamily="34" charset="-122"/>
                <a:cs typeface="DM Sans" pitchFamily="34" charset="-120"/>
              </a:rPr>
              <a:t>https://&lt;PROYECTO&gt;.supabase.co/rest/v1/&lt;tabla&gt;</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59161"/>
          <a:ext cx="10553700" cy="1591204"/>
        </p:xfrm>
        <a:graphic>
          <a:graphicData uri="http://schemas.openxmlformats.org/drawingml/2006/table">
            <a:tbl>
              <a:tblPr/>
              <a:tblGrid>
                <a:gridCol w="2321814">
                  <a:extLst>
                    <a:ext uri="{9D8B030D-6E8A-4147-A177-3AD203B41FA5}">
                      <a16:colId xmlns:a16="http://schemas.microsoft.com/office/drawing/2014/main" val="20000"/>
                    </a:ext>
                  </a:extLst>
                </a:gridCol>
                <a:gridCol w="1055370">
                  <a:extLst>
                    <a:ext uri="{9D8B030D-6E8A-4147-A177-3AD203B41FA5}">
                      <a16:colId xmlns:a16="http://schemas.microsoft.com/office/drawing/2014/main" val="20001"/>
                    </a:ext>
                  </a:extLst>
                </a:gridCol>
                <a:gridCol w="4010406">
                  <a:extLst>
                    <a:ext uri="{9D8B030D-6E8A-4147-A177-3AD203B41FA5}">
                      <a16:colId xmlns:a16="http://schemas.microsoft.com/office/drawing/2014/main" val="20002"/>
                    </a:ext>
                  </a:extLst>
                </a:gridCol>
                <a:gridCol w="3166110">
                  <a:extLst>
                    <a:ext uri="{9D8B030D-6E8A-4147-A177-3AD203B41FA5}">
                      <a16:colId xmlns:a16="http://schemas.microsoft.com/office/drawing/2014/main" val="20003"/>
                    </a:ext>
                  </a:extLst>
                </a:gridCol>
              </a:tblGrid>
              <a:tr h="342801">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Para qué</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Método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Qué se envía</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Qué se recibe</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55741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Leer el inventario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GET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producto=ilike.*texto* (búsqueda parcial)</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Filas con id, producto, stock y stock_minimo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Registrar la alerta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POST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 de la alerta y on_conflict=alerta_id</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La alerta creada o actualizada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Registrar el incidente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POST</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 del fallo y on_conflict=ejecucion_id</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El incidente guardado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p:nvPr/>
        </p:nvSpPr>
        <p:spPr>
          <a:xfrm>
            <a:off x="812800" y="3622774"/>
            <a:ext cx="10566400" cy="802481"/>
          </a:xfrm>
          <a:prstGeom prst="roundRect">
            <a:avLst>
              <a:gd name="adj" fmla="val 12661"/>
            </a:avLst>
          </a:prstGeom>
          <a:solidFill>
            <a:srgbClr val="DCEFEC"/>
          </a:solidFill>
          <a:ln/>
        </p:spPr>
        <p:txBody>
          <a:bodyPr wrap="square" lIns="173442" tIns="122642" rIns="0" bIns="97242" rtlCol="0" anchor="t">
            <a:normAutofit/>
          </a:bodyPr>
          <a:lstStyle/>
          <a:p>
            <a:pPr marL="0" indent="0" algn="l">
              <a:lnSpc>
                <a:spcPts val="1960"/>
              </a:lnSpc>
              <a:buNone/>
            </a:pPr>
            <a:r>
              <a:rPr lang="en-US" sz="1400" b="1" dirty="0">
                <a:solidFill>
                  <a:srgbClr val="1B2430"/>
                </a:solidFill>
                <a:latin typeface="DM Sans" pitchFamily="34" charset="0"/>
                <a:ea typeface="DM Sans" pitchFamily="34" charset="-122"/>
                <a:cs typeface="DM Sans" pitchFamily="34" charset="-120"/>
              </a:rPr>
              <a:t>Credenciales:</a:t>
            </a:r>
            <a:r>
              <a:rPr lang="en-US" sz="1400" dirty="0">
                <a:solidFill>
                  <a:srgbClr val="1B2430"/>
                </a:solidFill>
                <a:latin typeface="DM Sans" pitchFamily="34" charset="0"/>
                <a:ea typeface="DM Sans" pitchFamily="34" charset="-122"/>
                <a:cs typeface="DM Sans" pitchFamily="34" charset="-120"/>
              </a:rPr>
              <a:t> una sola credencial Supabase API en n8n. Sus valores no se publican en el repositorio; cada persona crea la suya.</a:t>
            </a:r>
            <a:endParaRPr lang="en-US" sz="14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Organización de los workflows</a:t>
            </a:r>
            <a:endParaRPr lang="en-US" sz="3200" dirty="0"/>
          </a:p>
        </p:txBody>
      </p:sp>
      <p:sp>
        <p:nvSpPr>
          <p:cNvPr id="3" name="Shape 1"/>
          <p:cNvSpPr/>
          <p:nvPr/>
        </p:nvSpPr>
        <p:spPr>
          <a:xfrm>
            <a:off x="815975" y="1440755"/>
            <a:ext cx="3397250" cy="2464594"/>
          </a:xfrm>
          <a:prstGeom prst="roundRect">
            <a:avLst>
              <a:gd name="adj" fmla="val 3994"/>
            </a:avLst>
          </a:prstGeom>
          <a:solidFill>
            <a:srgbClr val="FFFFFF"/>
          </a:solidFill>
          <a:ln w="6350">
            <a:solidFill>
              <a:srgbClr val="DAD8D0"/>
            </a:solidFill>
            <a:prstDash val="solid"/>
          </a:ln>
        </p:spPr>
      </p:sp>
      <p:sp>
        <p:nvSpPr>
          <p:cNvPr id="4" name="Text 2"/>
          <p:cNvSpPr/>
          <p:nvPr/>
        </p:nvSpPr>
        <p:spPr>
          <a:xfrm>
            <a:off x="996950" y="1621730"/>
            <a:ext cx="3126359"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Principal - Revisión de stock</a:t>
            </a:r>
            <a:endParaRPr lang="en-US" sz="1600" dirty="0"/>
          </a:p>
        </p:txBody>
      </p:sp>
      <p:sp>
        <p:nvSpPr>
          <p:cNvPr id="5" name="Text 3"/>
          <p:cNvSpPr/>
          <p:nvPr/>
        </p:nvSpPr>
        <p:spPr>
          <a:xfrm>
            <a:off x="996950" y="1941711"/>
            <a:ext cx="3126359" cy="7186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Recibe la petición por el Webhook, consulta, decide la ruta, registra la alerta y responde.</a:t>
            </a:r>
            <a:endParaRPr lang="en-US" sz="1300" dirty="0"/>
          </a:p>
        </p:txBody>
      </p:sp>
      <p:sp>
        <p:nvSpPr>
          <p:cNvPr id="6" name="Text 4"/>
          <p:cNvSpPr/>
          <p:nvPr/>
        </p:nvSpPr>
        <p:spPr>
          <a:xfrm>
            <a:off x="996950" y="271115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una petición con el nombre del producto.</a:t>
            </a:r>
            <a:endParaRPr lang="en-US" sz="1300" dirty="0"/>
          </a:p>
        </p:txBody>
      </p:sp>
      <p:sp>
        <p:nvSpPr>
          <p:cNvPr id="7" name="Text 5"/>
          <p:cNvSpPr/>
          <p:nvPr/>
        </p:nvSpPr>
        <p:spPr>
          <a:xfrm>
            <a:off x="996950" y="324951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una lista JSON con el resultado.</a:t>
            </a:r>
            <a:endParaRPr lang="en-US" sz="1300" dirty="0"/>
          </a:p>
        </p:txBody>
      </p:sp>
      <p:sp>
        <p:nvSpPr>
          <p:cNvPr id="8" name="Shape 6"/>
          <p:cNvSpPr/>
          <p:nvPr/>
        </p:nvSpPr>
        <p:spPr>
          <a:xfrm>
            <a:off x="4397375" y="1440755"/>
            <a:ext cx="3397250" cy="2464594"/>
          </a:xfrm>
          <a:prstGeom prst="roundRect">
            <a:avLst>
              <a:gd name="adj" fmla="val 3994"/>
            </a:avLst>
          </a:prstGeom>
          <a:solidFill>
            <a:srgbClr val="FFFFFF"/>
          </a:solidFill>
          <a:ln w="6350">
            <a:solidFill>
              <a:srgbClr val="DAD8D0"/>
            </a:solidFill>
            <a:prstDash val="solid"/>
          </a:ln>
        </p:spPr>
      </p:sp>
      <p:sp>
        <p:nvSpPr>
          <p:cNvPr id="9" name="Text 7"/>
          <p:cNvSpPr/>
          <p:nvPr/>
        </p:nvSpPr>
        <p:spPr>
          <a:xfrm>
            <a:off x="4578350" y="1621730"/>
            <a:ext cx="3126359" cy="512961"/>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F766E"/>
                </a:solidFill>
                <a:latin typeface="DM Sans" pitchFamily="34" charset="0"/>
                <a:ea typeface="DM Sans" pitchFamily="34" charset="-122"/>
                <a:cs typeface="DM Sans" pitchFamily="34" charset="-120"/>
              </a:rPr>
              <a:t>Preparar producto (subworkflow)</a:t>
            </a:r>
            <a:endParaRPr lang="en-US" sz="1600" dirty="0"/>
          </a:p>
        </p:txBody>
      </p:sp>
      <p:sp>
        <p:nvSpPr>
          <p:cNvPr id="10" name="Text 8"/>
          <p:cNvSpPr/>
          <p:nvPr/>
        </p:nvSpPr>
        <p:spPr>
          <a:xfrm>
            <a:off x="4578350" y="2185491"/>
            <a:ext cx="3126359"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Limpia y valida un producto. Se reutiliza cada vez que el principal lo llama.</a:t>
            </a:r>
            <a:endParaRPr lang="en-US" sz="1300" dirty="0"/>
          </a:p>
        </p:txBody>
      </p:sp>
      <p:sp>
        <p:nvSpPr>
          <p:cNvPr id="11" name="Text 9"/>
          <p:cNvSpPr/>
          <p:nvPr/>
        </p:nvSpPr>
        <p:spPr>
          <a:xfrm>
            <a:off x="4578350" y="272385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id, producto, stock y stock_minimo.</a:t>
            </a:r>
            <a:endParaRPr lang="en-US" sz="1300" dirty="0"/>
          </a:p>
        </p:txBody>
      </p:sp>
      <p:sp>
        <p:nvSpPr>
          <p:cNvPr id="12" name="Text 10"/>
          <p:cNvSpPr/>
          <p:nvPr/>
        </p:nvSpPr>
        <p:spPr>
          <a:xfrm>
            <a:off x="4578350" y="326221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esos campos limpios, más datos_validos y motivo.</a:t>
            </a:r>
            <a:endParaRPr lang="en-US" sz="1300" dirty="0"/>
          </a:p>
        </p:txBody>
      </p:sp>
      <p:sp>
        <p:nvSpPr>
          <p:cNvPr id="13" name="Shape 11"/>
          <p:cNvSpPr/>
          <p:nvPr/>
        </p:nvSpPr>
        <p:spPr>
          <a:xfrm>
            <a:off x="7978775" y="1440755"/>
            <a:ext cx="3397250" cy="2464594"/>
          </a:xfrm>
          <a:prstGeom prst="roundRect">
            <a:avLst>
              <a:gd name="adj" fmla="val 3994"/>
            </a:avLst>
          </a:prstGeom>
          <a:solidFill>
            <a:srgbClr val="FFFFFF"/>
          </a:solidFill>
          <a:ln w="6350">
            <a:solidFill>
              <a:srgbClr val="DAD8D0"/>
            </a:solidFill>
            <a:prstDash val="solid"/>
          </a:ln>
        </p:spPr>
      </p:sp>
      <p:sp>
        <p:nvSpPr>
          <p:cNvPr id="14" name="Text 12"/>
          <p:cNvSpPr/>
          <p:nvPr/>
        </p:nvSpPr>
        <p:spPr>
          <a:xfrm>
            <a:off x="8159750" y="1621730"/>
            <a:ext cx="3126359"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B45309"/>
                </a:solidFill>
                <a:latin typeface="DM Sans" pitchFamily="34" charset="0"/>
                <a:ea typeface="DM Sans" pitchFamily="34" charset="-122"/>
                <a:cs typeface="DM Sans" pitchFamily="34" charset="-120"/>
              </a:rPr>
              <a:t>Manejador de errores</a:t>
            </a:r>
            <a:endParaRPr lang="en-US" sz="1600" dirty="0"/>
          </a:p>
        </p:txBody>
      </p:sp>
      <p:sp>
        <p:nvSpPr>
          <p:cNvPr id="15" name="Text 13"/>
          <p:cNvSpPr/>
          <p:nvPr/>
        </p:nvSpPr>
        <p:spPr>
          <a:xfrm>
            <a:off x="8159750" y="1941711"/>
            <a:ext cx="3126359"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Se activa solo cuando falla una ejecución automática del principal.</a:t>
            </a:r>
            <a:endParaRPr lang="en-US" sz="1300" dirty="0"/>
          </a:p>
        </p:txBody>
      </p:sp>
      <p:sp>
        <p:nvSpPr>
          <p:cNvPr id="16" name="Text 14"/>
          <p:cNvSpPr/>
          <p:nvPr/>
        </p:nvSpPr>
        <p:spPr>
          <a:xfrm>
            <a:off x="8159750" y="2480072"/>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Recibe:</a:t>
            </a:r>
            <a:r>
              <a:rPr lang="en-US" sz="1300" dirty="0">
                <a:solidFill>
                  <a:srgbClr val="1B2430"/>
                </a:solidFill>
                <a:latin typeface="DM Sans" pitchFamily="34" charset="0"/>
                <a:ea typeface="DM Sans" pitchFamily="34" charset="-122"/>
                <a:cs typeface="DM Sans" pitchFamily="34" charset="-120"/>
              </a:rPr>
              <a:t> el aviso del error que genera n8n.</a:t>
            </a:r>
            <a:endParaRPr lang="en-US" sz="1300" dirty="0"/>
          </a:p>
        </p:txBody>
      </p:sp>
      <p:sp>
        <p:nvSpPr>
          <p:cNvPr id="17" name="Text 15"/>
          <p:cNvSpPr/>
          <p:nvPr/>
        </p:nvSpPr>
        <p:spPr>
          <a:xfrm>
            <a:off x="8159750" y="3018433"/>
            <a:ext cx="3126359"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Devuelve:</a:t>
            </a:r>
            <a:r>
              <a:rPr lang="en-US" sz="1300" dirty="0">
                <a:solidFill>
                  <a:srgbClr val="1B2430"/>
                </a:solidFill>
                <a:latin typeface="DM Sans" pitchFamily="34" charset="0"/>
                <a:ea typeface="DM Sans" pitchFamily="34" charset="-122"/>
                <a:cs typeface="DM Sans" pitchFamily="34" charset="-120"/>
              </a:rPr>
              <a:t> una fila en la tabla incidentes.</a:t>
            </a:r>
            <a:endParaRPr lang="en-US" sz="1300" dirty="0"/>
          </a:p>
        </p:txBody>
      </p:sp>
      <p:sp>
        <p:nvSpPr>
          <p:cNvPr id="18" name="Text 16"/>
          <p:cNvSpPr/>
          <p:nvPr/>
        </p:nvSpPr>
        <p:spPr>
          <a:xfrm>
            <a:off x="812800" y="4086324"/>
            <a:ext cx="10566400" cy="553641"/>
          </a:xfrm>
          <a:prstGeom prst="roundRect">
            <a:avLst>
              <a:gd name="adj" fmla="val 18351"/>
            </a:avLst>
          </a:prstGeom>
          <a:solidFill>
            <a:srgbClr val="DCEFEC"/>
          </a:solidFill>
          <a:ln/>
        </p:spPr>
        <p:txBody>
          <a:bodyPr wrap="square" lIns="173442" tIns="122642" rIns="0" bIns="97242"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El principal llama al subworkflow en cada consulta. Si el principal falla, n8n activa el manejador.</a:t>
            </a:r>
            <a:endParaRPr lang="en-US" sz="1400" dirty="0"/>
          </a:p>
        </p:txBody>
      </p:sp>
      <p:sp>
        <p:nvSpPr>
          <p:cNvPr id="19" name="Text 17"/>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8"/>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Validaciones y errores: dos situaciones distintas</a:t>
            </a:r>
            <a:endParaRPr lang="en-US" sz="3000" dirty="0"/>
          </a:p>
        </p:txBody>
      </p:sp>
      <p:sp>
        <p:nvSpPr>
          <p:cNvPr id="3" name="Shape 1"/>
          <p:cNvSpPr/>
          <p:nvPr/>
        </p:nvSpPr>
        <p:spPr>
          <a:xfrm>
            <a:off x="812800" y="1384300"/>
            <a:ext cx="5194300" cy="1650702"/>
          </a:xfrm>
          <a:prstGeom prst="roundRect">
            <a:avLst>
              <a:gd name="adj" fmla="val 6155"/>
            </a:avLst>
          </a:prstGeom>
          <a:solidFill>
            <a:srgbClr val="DCEFEC"/>
          </a:solidFill>
          <a:ln/>
        </p:spPr>
      </p:sp>
      <p:sp>
        <p:nvSpPr>
          <p:cNvPr id="4" name="Text 2"/>
          <p:cNvSpPr/>
          <p:nvPr/>
        </p:nvSpPr>
        <p:spPr>
          <a:xfrm>
            <a:off x="990600" y="1562100"/>
            <a:ext cx="498386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0B5B54"/>
                </a:solidFill>
                <a:latin typeface="DM Sans" pitchFamily="34" charset="0"/>
                <a:ea typeface="DM Sans" pitchFamily="34" charset="-122"/>
                <a:cs typeface="DM Sans" pitchFamily="34" charset="-120"/>
              </a:rPr>
              <a:t>Respuesta del negocio (el flujo funcionó)</a:t>
            </a:r>
            <a:endParaRPr lang="en-US" sz="1600" dirty="0"/>
          </a:p>
        </p:txBody>
      </p:sp>
      <p:sp>
        <p:nvSpPr>
          <p:cNvPr id="5" name="Text 3"/>
          <p:cNvSpPr/>
          <p:nvPr/>
        </p:nvSpPr>
        <p:spPr>
          <a:xfrm>
            <a:off x="990600" y="1869380"/>
            <a:ext cx="4983861"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Producto no encontrado:</a:t>
            </a:r>
            <a:r>
              <a:rPr lang="en-US" sz="1300" dirty="0">
                <a:solidFill>
                  <a:srgbClr val="1B2430"/>
                </a:solidFill>
                <a:latin typeface="DM Sans" pitchFamily="34" charset="0"/>
                <a:ea typeface="DM Sans" pitchFamily="34" charset="-122"/>
                <a:cs typeface="DM Sans" pitchFamily="34" charset="-120"/>
              </a:rPr>
              <a:t> la consulta no halló coincidencias.</a:t>
            </a:r>
            <a:endParaRPr lang="en-US" sz="1300" dirty="0"/>
          </a:p>
        </p:txBody>
      </p:sp>
      <p:sp>
        <p:nvSpPr>
          <p:cNvPr id="6" name="Text 4"/>
          <p:cNvSpPr/>
          <p:nvPr/>
        </p:nvSpPr>
        <p:spPr>
          <a:xfrm>
            <a:off x="990600" y="2163961"/>
            <a:ext cx="4983861" cy="487561"/>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B2430"/>
                </a:solidFill>
                <a:latin typeface="DM Sans" pitchFamily="34" charset="0"/>
                <a:ea typeface="DM Sans" pitchFamily="34" charset="-122"/>
                <a:cs typeface="DM Sans" pitchFamily="34" charset="-120"/>
              </a:rPr>
              <a:t>Datos no válidos:</a:t>
            </a:r>
            <a:r>
              <a:rPr lang="en-US" sz="1300" dirty="0">
                <a:solidFill>
                  <a:srgbClr val="1B2430"/>
                </a:solidFill>
                <a:latin typeface="DM Sans" pitchFamily="34" charset="0"/>
                <a:ea typeface="DM Sans" pitchFamily="34" charset="-122"/>
                <a:cs typeface="DM Sans" pitchFamily="34" charset="-120"/>
              </a:rPr>
              <a:t> el stock está vacío o es negativo; se indica el motivo y no se escribe nada.</a:t>
            </a:r>
            <a:endParaRPr lang="en-US" sz="1300" dirty="0"/>
          </a:p>
        </p:txBody>
      </p:sp>
      <p:sp>
        <p:nvSpPr>
          <p:cNvPr id="7" name="Shape 5"/>
          <p:cNvSpPr/>
          <p:nvPr/>
        </p:nvSpPr>
        <p:spPr>
          <a:xfrm>
            <a:off x="6184900" y="1384300"/>
            <a:ext cx="5194300" cy="1650702"/>
          </a:xfrm>
          <a:prstGeom prst="roundRect">
            <a:avLst>
              <a:gd name="adj" fmla="val 6155"/>
            </a:avLst>
          </a:prstGeom>
          <a:solidFill>
            <a:srgbClr val="FBEBD7"/>
          </a:solidFill>
          <a:ln/>
        </p:spPr>
      </p:sp>
      <p:sp>
        <p:nvSpPr>
          <p:cNvPr id="8" name="Text 6"/>
          <p:cNvSpPr/>
          <p:nvPr/>
        </p:nvSpPr>
        <p:spPr>
          <a:xfrm>
            <a:off x="6362700" y="1562100"/>
            <a:ext cx="4983861" cy="26918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8A3F06"/>
                </a:solidFill>
                <a:latin typeface="DM Sans" pitchFamily="34" charset="0"/>
                <a:ea typeface="DM Sans" pitchFamily="34" charset="-122"/>
                <a:cs typeface="DM Sans" pitchFamily="34" charset="-120"/>
              </a:rPr>
              <a:t>Error técnico (algo falló)</a:t>
            </a:r>
            <a:endParaRPr lang="en-US" sz="1600" dirty="0"/>
          </a:p>
        </p:txBody>
      </p:sp>
      <p:sp>
        <p:nvSpPr>
          <p:cNvPr id="9" name="Text 7"/>
          <p:cNvSpPr/>
          <p:nvPr/>
        </p:nvSpPr>
        <p:spPr>
          <a:xfrm>
            <a:off x="6362700" y="1869380"/>
            <a:ext cx="4983861"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Por ejemplo, Supabase no encuentra la tabla. El nodo reintenta 3 veces, con 2 segundos entre intentos.</a:t>
            </a:r>
            <a:endParaRPr lang="en-US" sz="1300" dirty="0"/>
          </a:p>
        </p:txBody>
      </p:sp>
      <p:sp>
        <p:nvSpPr>
          <p:cNvPr id="10" name="Text 8"/>
          <p:cNvSpPr/>
          <p:nvPr/>
        </p:nvSpPr>
        <p:spPr>
          <a:xfrm>
            <a:off x="6362700" y="2395041"/>
            <a:ext cx="4983861" cy="48756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1B2430"/>
                </a:solidFill>
                <a:latin typeface="DM Sans" pitchFamily="34" charset="0"/>
                <a:ea typeface="DM Sans" pitchFamily="34" charset="-122"/>
                <a:cs typeface="DM Sans" pitchFamily="34" charset="-120"/>
              </a:rPr>
              <a:t>Si sigue fallando, el manejador guarda un incidente. No envía ninguna notificación.</a:t>
            </a:r>
            <a:endParaRPr lang="en-US" sz="1300" dirty="0"/>
          </a:p>
        </p:txBody>
      </p:sp>
      <p:sp>
        <p:nvSpPr>
          <p:cNvPr id="11" name="Text 9"/>
          <p:cNvSpPr/>
          <p:nvPr/>
        </p:nvSpPr>
        <p:spPr>
          <a:xfrm>
            <a:off x="812800" y="3187402"/>
            <a:ext cx="5350129"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Prueba:</a:t>
            </a:r>
            <a:r>
              <a:rPr lang="en-US" sz="1300" dirty="0">
                <a:solidFill>
                  <a:srgbClr val="1B2430"/>
                </a:solidFill>
                <a:latin typeface="DM Sans" pitchFamily="34" charset="0"/>
                <a:ea typeface="DM Sans" pitchFamily="34" charset="-122"/>
                <a:cs typeface="DM Sans" pitchFamily="34" charset="-120"/>
              </a:rPr>
              <a:t> producto=zzzz devuelve «Producto no encontrado».</a:t>
            </a:r>
            <a:endParaRPr lang="en-US" sz="1300" dirty="0"/>
          </a:p>
        </p:txBody>
      </p:sp>
      <p:sp>
        <p:nvSpPr>
          <p:cNvPr id="12" name="Shape 10"/>
          <p:cNvSpPr/>
          <p:nvPr/>
        </p:nvSpPr>
        <p:spPr>
          <a:xfrm>
            <a:off x="812800" y="3461048"/>
            <a:ext cx="5194300" cy="850900"/>
          </a:xfrm>
          <a:prstGeom prst="roundRect">
            <a:avLst>
              <a:gd name="adj" fmla="val 5970"/>
            </a:avLst>
          </a:prstGeom>
          <a:solidFill>
            <a:srgbClr val="FFFFFF"/>
          </a:solidFill>
          <a:ln/>
        </p:spPr>
      </p:sp>
      <p:pic>
        <p:nvPicPr>
          <p:cNvPr id="13" name="Image 0" descr="Respuesta del flujo para un producto inexistente: Estado Producto no encontrado, Acción Revise el nombre del producto"/>
          <p:cNvPicPr>
            <a:picLocks noChangeAspect="1"/>
          </p:cNvPicPr>
          <p:nvPr/>
        </p:nvPicPr>
        <p:blipFill>
          <a:blip r:embed="rId3"/>
          <a:stretch>
            <a:fillRect/>
          </a:stretch>
        </p:blipFill>
        <p:spPr>
          <a:xfrm>
            <a:off x="856900" y="3467398"/>
            <a:ext cx="5106099" cy="838200"/>
          </a:xfrm>
          <a:custGeom>
            <a:avLst/>
            <a:gdLst/>
            <a:ahLst/>
            <a:cxnLst/>
            <a:rect l="l" t="t" r="r" b="b"/>
            <a:pathLst>
              <a:path w="5106099" h="838200">
                <a:moveTo>
                  <a:pt x="0" y="508"/>
                </a:moveTo>
                <a:arcTo wR="44450" hR="44450" stAng="15679878" swAng="520122"/>
                <a:lnTo>
                  <a:pt x="5099400" y="0"/>
                </a:lnTo>
                <a:arcTo wR="44450" hR="44450" stAng="16200000" swAng="520122"/>
                <a:lnTo>
                  <a:pt x="5106099" y="837692"/>
                </a:lnTo>
                <a:arcTo wR="44450" hR="44450" stAng="4879878" swAng="520122"/>
                <a:lnTo>
                  <a:pt x="6700" y="838200"/>
                </a:lnTo>
                <a:arcTo wR="44450" hR="44450" stAng="5400000" swAng="520122"/>
                <a:close/>
              </a:path>
            </a:pathLst>
          </a:custGeom>
        </p:spPr>
      </p:pic>
      <p:sp>
        <p:nvSpPr>
          <p:cNvPr id="14" name="Shape 11"/>
          <p:cNvSpPr/>
          <p:nvPr/>
        </p:nvSpPr>
        <p:spPr>
          <a:xfrm>
            <a:off x="815975" y="3464223"/>
            <a:ext cx="5187950" cy="844550"/>
          </a:xfrm>
          <a:prstGeom prst="roundRect">
            <a:avLst>
              <a:gd name="adj" fmla="val 5639"/>
            </a:avLst>
          </a:prstGeom>
          <a:noFill/>
          <a:ln w="6350">
            <a:solidFill>
              <a:srgbClr val="DAD8D0"/>
            </a:solidFill>
            <a:prstDash val="solid"/>
          </a:ln>
        </p:spPr>
      </p:sp>
      <p:sp>
        <p:nvSpPr>
          <p:cNvPr id="15" name="Text 12"/>
          <p:cNvSpPr/>
          <p:nvPr/>
        </p:nvSpPr>
        <p:spPr>
          <a:xfrm>
            <a:off x="6184900" y="3187402"/>
            <a:ext cx="6007100"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Prueba:</a:t>
            </a:r>
            <a:r>
              <a:rPr lang="en-US" sz="1300" dirty="0">
                <a:solidFill>
                  <a:srgbClr val="1B2430"/>
                </a:solidFill>
                <a:latin typeface="DM Sans" pitchFamily="34" charset="0"/>
                <a:ea typeface="DM Sans" pitchFamily="34" charset="-122"/>
                <a:cs typeface="DM Sans" pitchFamily="34" charset="-120"/>
              </a:rPr>
              <a:t> un producto con stock vacío devuelve datos_validos false.</a:t>
            </a:r>
            <a:endParaRPr lang="en-US" sz="1300" dirty="0"/>
          </a:p>
        </p:txBody>
      </p:sp>
      <p:sp>
        <p:nvSpPr>
          <p:cNvPr id="16" name="Shape 13"/>
          <p:cNvSpPr/>
          <p:nvPr/>
        </p:nvSpPr>
        <p:spPr>
          <a:xfrm>
            <a:off x="6184900" y="3461048"/>
            <a:ext cx="5194300" cy="857250"/>
          </a:xfrm>
          <a:prstGeom prst="roundRect">
            <a:avLst>
              <a:gd name="adj" fmla="val 5926"/>
            </a:avLst>
          </a:prstGeom>
          <a:solidFill>
            <a:srgbClr val="FFFFFF"/>
          </a:solidFill>
          <a:ln/>
        </p:spPr>
      </p:sp>
      <p:pic>
        <p:nvPicPr>
          <p:cNvPr id="17" name="Image 1" descr="Respuesta del flujo con stock null, datos_validos false y motivo stock no válido"/>
          <p:cNvPicPr>
            <a:picLocks noChangeAspect="1"/>
          </p:cNvPicPr>
          <p:nvPr/>
        </p:nvPicPr>
        <p:blipFill>
          <a:blip r:embed="rId4"/>
          <a:srcRect l="-489" r="-489"/>
          <a:stretch/>
        </p:blipFill>
        <p:spPr>
          <a:xfrm>
            <a:off x="6191250" y="3467398"/>
            <a:ext cx="5181600" cy="844550"/>
          </a:xfrm>
          <a:prstGeom prst="roundRect">
            <a:avLst>
              <a:gd name="adj" fmla="val 5263"/>
            </a:avLst>
          </a:prstGeom>
        </p:spPr>
      </p:pic>
      <p:sp>
        <p:nvSpPr>
          <p:cNvPr id="18" name="Shape 14"/>
          <p:cNvSpPr/>
          <p:nvPr/>
        </p:nvSpPr>
        <p:spPr>
          <a:xfrm>
            <a:off x="6188075" y="3464223"/>
            <a:ext cx="5187950" cy="850900"/>
          </a:xfrm>
          <a:prstGeom prst="roundRect">
            <a:avLst>
              <a:gd name="adj" fmla="val 5597"/>
            </a:avLst>
          </a:prstGeom>
          <a:noFill/>
          <a:ln w="6350">
            <a:solidFill>
              <a:srgbClr val="DAD8D0"/>
            </a:solidFill>
            <a:prstDash val="solid"/>
          </a:ln>
        </p:spPr>
      </p:sp>
      <p:sp>
        <p:nvSpPr>
          <p:cNvPr id="19" name="Text 15"/>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20" name="Text 16"/>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44500"/>
          </a:xfrm>
          <a:prstGeom prst="rect">
            <a:avLst/>
          </a:prstGeom>
          <a:noFill/>
          <a:ln/>
        </p:spPr>
        <p:txBody>
          <a:bodyPr wrap="square" lIns="0" tIns="0" rIns="0" bIns="0" rtlCol="0" anchor="t">
            <a:normAutofit/>
          </a:bodyPr>
          <a:lstStyle/>
          <a:p>
            <a:pPr marL="0" indent="0" algn="l">
              <a:lnSpc>
                <a:spcPts val="3300"/>
              </a:lnSpc>
              <a:buNone/>
            </a:pPr>
            <a:r>
              <a:rPr lang="en-US" sz="3000" b="1" i="0" dirty="0">
                <a:solidFill>
                  <a:srgbClr val="1B2430"/>
                </a:solidFill>
                <a:latin typeface="DM Sans" pitchFamily="34" charset="0"/>
                <a:ea typeface="DM Sans" pitchFamily="34" charset="-122"/>
                <a:cs typeface="DM Sans" pitchFamily="34" charset="-120"/>
              </a:rPr>
              <a:t>Fallo técnico controlado y recuperación</a:t>
            </a:r>
            <a:endParaRPr lang="en-US" sz="3000" dirty="0"/>
          </a:p>
        </p:txBody>
      </p:sp>
      <p:sp>
        <p:nvSpPr>
          <p:cNvPr id="3" name="Text 1"/>
          <p:cNvSpPr/>
          <p:nvPr/>
        </p:nvSpPr>
        <p:spPr>
          <a:xfrm>
            <a:off x="815975" y="1387475"/>
            <a:ext cx="5149850" cy="706041"/>
          </a:xfrm>
          <a:prstGeom prst="roundRect">
            <a:avLst>
              <a:gd name="adj" fmla="val 12142"/>
            </a:avLst>
          </a:prstGeom>
          <a:solidFill>
            <a:srgbClr val="FFFFFF"/>
          </a:solidFill>
          <a:ln w="6350">
            <a:solidFill>
              <a:srgbClr val="DAD8D0"/>
            </a:solidFill>
            <a:prstDash val="solid"/>
          </a:ln>
        </p:spPr>
        <p:txBody>
          <a:bodyPr wrap="square" lIns="143167" tIns="105067" rIns="0" bIns="79667"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Cómo se provocó:</a:t>
            </a:r>
            <a:r>
              <a:rPr lang="en-US" sz="1300" dirty="0">
                <a:solidFill>
                  <a:srgbClr val="1B2430"/>
                </a:solidFill>
                <a:latin typeface="DM Sans" pitchFamily="34" charset="0"/>
                <a:ea typeface="DM Sans" pitchFamily="34" charset="-122"/>
                <a:cs typeface="DM Sans" pitchFamily="34" charset="-120"/>
              </a:rPr>
              <a:t> se cambió la URL de escritura a una tabla que no existe y se llamó al flujo publicado.</a:t>
            </a:r>
            <a:endParaRPr lang="en-US" sz="1300" dirty="0"/>
          </a:p>
        </p:txBody>
      </p:sp>
      <p:sp>
        <p:nvSpPr>
          <p:cNvPr id="4" name="Text 2"/>
          <p:cNvSpPr/>
          <p:nvPr/>
        </p:nvSpPr>
        <p:spPr>
          <a:xfrm>
            <a:off x="812800" y="2185591"/>
            <a:ext cx="5156200" cy="922536"/>
          </a:xfrm>
          <a:prstGeom prst="roundRect">
            <a:avLst>
              <a:gd name="adj" fmla="val 9636"/>
            </a:avLst>
          </a:prstGeom>
          <a:solidFill>
            <a:srgbClr val="FBEBD7"/>
          </a:solidFill>
          <a:ln/>
        </p:spPr>
        <p:txBody>
          <a:bodyPr wrap="square" lIns="139062" tIns="100962" rIns="0" bIns="75562"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Qué pasó:</a:t>
            </a:r>
            <a:r>
              <a:rPr lang="en-US" sz="1300" dirty="0">
                <a:solidFill>
                  <a:srgbClr val="1B2430"/>
                </a:solidFill>
                <a:latin typeface="DM Sans" pitchFamily="34" charset="0"/>
                <a:ea typeface="DM Sans" pitchFamily="34" charset="-122"/>
                <a:cs typeface="DM Sans" pitchFamily="34" charset="-120"/>
              </a:rPr>
              <a:t> el nodo falló tras 3 intentos (cerca de 6,5 s), el principal quedó en Error y el manejador guardó el incidente en la tabla incidentes.</a:t>
            </a:r>
            <a:endParaRPr lang="en-US" sz="1300" dirty="0"/>
          </a:p>
        </p:txBody>
      </p:sp>
      <p:sp>
        <p:nvSpPr>
          <p:cNvPr id="5" name="Text 3"/>
          <p:cNvSpPr/>
          <p:nvPr/>
        </p:nvSpPr>
        <p:spPr>
          <a:xfrm>
            <a:off x="812800" y="3197027"/>
            <a:ext cx="5156200" cy="922536"/>
          </a:xfrm>
          <a:prstGeom prst="roundRect">
            <a:avLst>
              <a:gd name="adj" fmla="val 9636"/>
            </a:avLst>
          </a:prstGeom>
          <a:solidFill>
            <a:srgbClr val="DCEFEC"/>
          </a:solidFill>
          <a:ln/>
        </p:spPr>
        <p:txBody>
          <a:bodyPr wrap="square" lIns="139062" tIns="100962" rIns="0" bIns="75562"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Recuperación:</a:t>
            </a:r>
            <a:r>
              <a:rPr lang="en-US" sz="1300" dirty="0">
                <a:solidFill>
                  <a:srgbClr val="1B2430"/>
                </a:solidFill>
                <a:latin typeface="DM Sans" pitchFamily="34" charset="0"/>
                <a:ea typeface="DM Sans" pitchFamily="34" charset="-122"/>
                <a:cs typeface="DM Sans" pitchFamily="34" charset="-120"/>
              </a:rPr>
              <a:t> se restauró la URL y se repitió la petición. Respondió bien y reutilizó la misma alerta, sin crear una segunda.</a:t>
            </a:r>
            <a:endParaRPr lang="en-US" sz="1300" dirty="0"/>
          </a:p>
        </p:txBody>
      </p:sp>
      <p:sp>
        <p:nvSpPr>
          <p:cNvPr id="6" name="Text 4"/>
          <p:cNvSpPr/>
          <p:nvPr/>
        </p:nvSpPr>
        <p:spPr>
          <a:xfrm>
            <a:off x="815975" y="4211638"/>
            <a:ext cx="5149850" cy="706041"/>
          </a:xfrm>
          <a:prstGeom prst="roundRect">
            <a:avLst>
              <a:gd name="adj" fmla="val 12142"/>
            </a:avLst>
          </a:prstGeom>
          <a:solidFill>
            <a:srgbClr val="FFFFFF"/>
          </a:solidFill>
          <a:ln w="6350">
            <a:solidFill>
              <a:srgbClr val="DAD8D0"/>
            </a:solidFill>
            <a:prstDash val="solid"/>
          </a:ln>
        </p:spPr>
        <p:txBody>
          <a:bodyPr wrap="square" lIns="143167" tIns="105067" rIns="0" bIns="79667"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Límite:</a:t>
            </a:r>
            <a:r>
              <a:rPr lang="en-US" sz="1300" dirty="0">
                <a:solidFill>
                  <a:srgbClr val="1B2430"/>
                </a:solidFill>
                <a:latin typeface="DM Sans" pitchFamily="34" charset="0"/>
                <a:ea typeface="DM Sans" pitchFamily="34" charset="-122"/>
                <a:cs typeface="DM Sans" pitchFamily="34" charset="-120"/>
              </a:rPr>
              <a:t> el manejador solo registra el fallo; no lo repara ni avisa a nadie.</a:t>
            </a:r>
            <a:endParaRPr lang="en-US" sz="1300" dirty="0"/>
          </a:p>
        </p:txBody>
      </p:sp>
      <p:sp>
        <p:nvSpPr>
          <p:cNvPr id="7" name="Text 5"/>
          <p:cNvSpPr/>
          <p:nvPr/>
        </p:nvSpPr>
        <p:spPr>
          <a:xfrm>
            <a:off x="6223000" y="1384300"/>
            <a:ext cx="531088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Ejecuciones del principal en estado Error</a:t>
            </a:r>
            <a:endParaRPr lang="en-US" sz="1300" dirty="0"/>
          </a:p>
        </p:txBody>
      </p:sp>
      <p:sp>
        <p:nvSpPr>
          <p:cNvPr id="8" name="Shape 6"/>
          <p:cNvSpPr/>
          <p:nvPr/>
        </p:nvSpPr>
        <p:spPr>
          <a:xfrm>
            <a:off x="6223000" y="1670645"/>
            <a:ext cx="4064000" cy="2171700"/>
          </a:xfrm>
          <a:prstGeom prst="roundRect">
            <a:avLst>
              <a:gd name="adj" fmla="val 2339"/>
            </a:avLst>
          </a:prstGeom>
          <a:solidFill>
            <a:srgbClr val="FFFFFF"/>
          </a:solidFill>
          <a:ln/>
        </p:spPr>
      </p:sp>
      <p:pic>
        <p:nvPicPr>
          <p:cNvPr id="9" name="Image 0" descr="Lista de ejecuciones del principal en estado Error, con el mensaje del nodo Registrar alerta en Supabase: the resource you are requesting could not be found"/>
          <p:cNvPicPr>
            <a:picLocks noChangeAspect="1"/>
          </p:cNvPicPr>
          <p:nvPr/>
        </p:nvPicPr>
        <p:blipFill>
          <a:blip r:embed="rId3"/>
          <a:srcRect l="-144" r="-144"/>
          <a:stretch/>
        </p:blipFill>
        <p:spPr>
          <a:xfrm>
            <a:off x="6229350" y="1676995"/>
            <a:ext cx="4051300" cy="2159000"/>
          </a:xfrm>
          <a:prstGeom prst="roundRect">
            <a:avLst>
              <a:gd name="adj" fmla="val 2059"/>
            </a:avLst>
          </a:prstGeom>
        </p:spPr>
      </p:pic>
      <p:sp>
        <p:nvSpPr>
          <p:cNvPr id="10" name="Shape 7"/>
          <p:cNvSpPr/>
          <p:nvPr/>
        </p:nvSpPr>
        <p:spPr>
          <a:xfrm>
            <a:off x="6226175" y="1673820"/>
            <a:ext cx="4057650" cy="2165350"/>
          </a:xfrm>
          <a:prstGeom prst="roundRect">
            <a:avLst>
              <a:gd name="adj" fmla="val 2199"/>
            </a:avLst>
          </a:prstGeom>
          <a:noFill/>
          <a:ln w="6350">
            <a:solidFill>
              <a:srgbClr val="DAD8D0"/>
            </a:solidFill>
            <a:prstDash val="solid"/>
          </a:ln>
        </p:spPr>
      </p:sp>
      <p:sp>
        <p:nvSpPr>
          <p:cNvPr id="11" name="Text 8"/>
          <p:cNvSpPr/>
          <p:nvPr/>
        </p:nvSpPr>
        <p:spPr>
          <a:xfrm>
            <a:off x="6223000" y="3905845"/>
            <a:ext cx="531088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1B2430"/>
                </a:solidFill>
                <a:latin typeface="DM Sans" pitchFamily="34" charset="0"/>
                <a:ea typeface="DM Sans" pitchFamily="34" charset="-122"/>
                <a:cs typeface="DM Sans" pitchFamily="34" charset="-120"/>
              </a:rPr>
              <a:t>Repetición tras corregir: misma alerta (id 4)</a:t>
            </a:r>
            <a:endParaRPr lang="en-US" sz="1300" dirty="0"/>
          </a:p>
        </p:txBody>
      </p:sp>
      <p:sp>
        <p:nvSpPr>
          <p:cNvPr id="12" name="Shape 9"/>
          <p:cNvSpPr/>
          <p:nvPr/>
        </p:nvSpPr>
        <p:spPr>
          <a:xfrm>
            <a:off x="6223000" y="4192191"/>
            <a:ext cx="4064000" cy="1314450"/>
          </a:xfrm>
          <a:prstGeom prst="roundRect">
            <a:avLst>
              <a:gd name="adj" fmla="val 3865"/>
            </a:avLst>
          </a:prstGeom>
          <a:solidFill>
            <a:srgbClr val="FFFFFF"/>
          </a:solidFill>
          <a:ln/>
        </p:spPr>
      </p:sp>
      <p:pic>
        <p:nvPicPr>
          <p:cNvPr id="13" name="Image 1" descr="Respuesta correcta tras la corrección con id 4 y alerta_id 1-2026-10-24, la misma alerta original"/>
          <p:cNvPicPr>
            <a:picLocks noChangeAspect="1"/>
          </p:cNvPicPr>
          <p:nvPr/>
        </p:nvPicPr>
        <p:blipFill>
          <a:blip r:embed="rId4"/>
          <a:srcRect l="-403" r="-403"/>
          <a:stretch/>
        </p:blipFill>
        <p:spPr>
          <a:xfrm>
            <a:off x="6229350" y="4198541"/>
            <a:ext cx="4051300" cy="1301750"/>
          </a:xfrm>
          <a:prstGeom prst="roundRect">
            <a:avLst>
              <a:gd name="adj" fmla="val 3415"/>
            </a:avLst>
          </a:prstGeom>
        </p:spPr>
      </p:pic>
      <p:sp>
        <p:nvSpPr>
          <p:cNvPr id="14" name="Shape 10"/>
          <p:cNvSpPr/>
          <p:nvPr/>
        </p:nvSpPr>
        <p:spPr>
          <a:xfrm>
            <a:off x="6226175" y="4195366"/>
            <a:ext cx="4057650" cy="1308100"/>
          </a:xfrm>
          <a:prstGeom prst="roundRect">
            <a:avLst>
              <a:gd name="adj" fmla="val 3641"/>
            </a:avLst>
          </a:prstGeom>
          <a:noFill/>
          <a:ln w="6350">
            <a:solidFill>
              <a:srgbClr val="DAD8D0"/>
            </a:solidFill>
            <a:prstDash val="solid"/>
          </a:ln>
        </p:spPr>
      </p:sp>
      <p:sp>
        <p:nvSpPr>
          <p:cNvPr id="15"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6"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Pruebas y resultados</a:t>
            </a:r>
            <a:endParaRPr lang="en-US" sz="3200" dirty="0"/>
          </a:p>
        </p:txBody>
      </p:sp>
      <p:sp>
        <p:nvSpPr>
          <p:cNvPr id="3" name="Text 1"/>
          <p:cNvSpPr/>
          <p:nvPr/>
        </p:nvSpPr>
        <p:spPr>
          <a:xfrm>
            <a:off x="812800" y="1437580"/>
            <a:ext cx="108833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B2430"/>
                </a:solidFill>
                <a:latin typeface="DM Sans" pitchFamily="34" charset="0"/>
                <a:ea typeface="DM Sans" pitchFamily="34" charset="-122"/>
                <a:cs typeface="DM Sans" pitchFamily="34" charset="-120"/>
              </a:rPr>
              <a:t>Las 8 pruebas, hechas el 24 de octubre de 2026 con datos ficticios, dieron el resultado esperado.</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876921"/>
          <a:ext cx="10553700" cy="3085209"/>
        </p:xfrm>
        <a:graphic>
          <a:graphicData uri="http://schemas.openxmlformats.org/drawingml/2006/table">
            <a:tbl>
              <a:tblPr/>
              <a:tblGrid>
                <a:gridCol w="633222">
                  <a:extLst>
                    <a:ext uri="{9D8B030D-6E8A-4147-A177-3AD203B41FA5}">
                      <a16:colId xmlns:a16="http://schemas.microsoft.com/office/drawing/2014/main" val="20000"/>
                    </a:ext>
                  </a:extLst>
                </a:gridCol>
                <a:gridCol w="2743962">
                  <a:extLst>
                    <a:ext uri="{9D8B030D-6E8A-4147-A177-3AD203B41FA5}">
                      <a16:colId xmlns:a16="http://schemas.microsoft.com/office/drawing/2014/main" val="20001"/>
                    </a:ext>
                  </a:extLst>
                </a:gridCol>
                <a:gridCol w="4010406">
                  <a:extLst>
                    <a:ext uri="{9D8B030D-6E8A-4147-A177-3AD203B41FA5}">
                      <a16:colId xmlns:a16="http://schemas.microsoft.com/office/drawing/2014/main" val="20002"/>
                    </a:ext>
                  </a:extLst>
                </a:gridCol>
                <a:gridCol w="3166110">
                  <a:extLst>
                    <a:ext uri="{9D8B030D-6E8A-4147-A177-3AD203B41FA5}">
                      <a16:colId xmlns:a16="http://schemas.microsoft.com/office/drawing/2014/main" val="20003"/>
                    </a:ext>
                  </a:extLst>
                </a:gridCol>
              </a:tblGrid>
              <a:tr h="342801">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N.º</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Caso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Entrada</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tc>
                  <a:txBody>
                    <a:bodyPr/>
                    <a:lstStyle/>
                    <a:p>
                      <a:pPr marL="0" indent="0">
                        <a:lnSpc>
                          <a:spcPts val="1820"/>
                        </a:lnSpc>
                        <a:buNone/>
                      </a:pPr>
                      <a:r>
                        <a:rPr lang="en-US" sz="1300" b="1" dirty="0">
                          <a:solidFill>
                            <a:srgbClr val="F6F5F1"/>
                          </a:solidFill>
                          <a:latin typeface="DM Sans" pitchFamily="34" charset="0"/>
                          <a:ea typeface="DM Sans" pitchFamily="34" charset="-122"/>
                          <a:cs typeface="DM Sans" pitchFamily="34" charset="-120"/>
                        </a:rPr>
                        <a:t>Resultado observado</a:t>
                      </a:r>
                      <a:endParaRPr lang="en-US" sz="1300" dirty="0">
                        <a:latin typeface="DM Sans" charset="0"/>
                        <a:ea typeface="DM Sans" charset="0"/>
                        <a:cs typeface="DM Sans" charset="0"/>
                      </a:endParaRPr>
                    </a:p>
                  </a:txBody>
                  <a:tcPr marL="57785" marR="57785" marT="57785" marB="57785">
                    <a:lnL w="12700" cap="flat" cmpd="sng" algn="ctr">
                      <a:solidFill>
                        <a:srgbClr val="121D26"/>
                      </a:solidFill>
                      <a:prstDash val="solid"/>
                      <a:round/>
                      <a:headEnd type="none" w="med" len="med"/>
                      <a:tailEnd type="none" w="med" len="med"/>
                    </a:lnL>
                    <a:lnR w="12700" cap="flat" cmpd="sng" algn="ctr">
                      <a:solidFill>
                        <a:srgbClr val="121D26"/>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121D26"/>
                      </a:solidFill>
                      <a:prstDash val="solid"/>
                      <a:round/>
                      <a:headEnd type="none" w="med" len="med"/>
                      <a:tailEnd type="none" w="med" len="med"/>
                    </a:lnB>
                    <a:solidFill>
                      <a:srgbClr val="12202B"/>
                    </a:solidFill>
                  </a:tcPr>
                </a:tc>
                <a:extLst>
                  <a:ext uri="{0D108BD9-81ED-4DB2-BD59-A6C34878D82A}">
                    <a16:rowId xmlns:a16="http://schemas.microsoft.com/office/drawing/2014/main" val="10000"/>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1</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Caso normal</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Peluche Stitch (stock 3, mínimo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Alta, alerta creada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121D26"/>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1"/>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2</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Repetir</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La misma petición del caso 1</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Sigue una sola fila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2"/>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3</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Stock en el límite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Peluche Mickey (10 y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Mediana, alerta creada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3"/>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4</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Stock suficiente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Camiseta Roja (50 y 10)</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Baja, sin alerta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4"/>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5</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No encontrado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producto=zzzz</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Aviso, sin escrituras</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5"/>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6</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Entrada no válida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Producto con stock vacío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datos_validos false</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6"/>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7</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Fallo técnico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URL de escritura alterada</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Incidente guardado</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7"/>
                  </a:ext>
                </a:extLst>
              </a:tr>
              <a:tr h="342801">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8</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Recuperación</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URL corregida, misma petición</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tc>
                  <a:txBody>
                    <a:bodyPr/>
                    <a:lstStyle/>
                    <a:p>
                      <a:pPr marL="0" indent="0">
                        <a:lnSpc>
                          <a:spcPts val="1820"/>
                        </a:lnSpc>
                        <a:buNone/>
                      </a:pPr>
                      <a:r>
                        <a:rPr lang="en-US" sz="1300" dirty="0">
                          <a:solidFill>
                            <a:srgbClr val="1B2430"/>
                          </a:solidFill>
                          <a:latin typeface="DM Sans" pitchFamily="34" charset="0"/>
                          <a:ea typeface="DM Sans" pitchFamily="34" charset="-122"/>
                          <a:cs typeface="DM Sans" pitchFamily="34" charset="-120"/>
                        </a:rPr>
                        <a:t>Misma alerta, sin duplicar</a:t>
                      </a:r>
                      <a:endParaRPr lang="en-US" sz="1300" dirty="0">
                        <a:latin typeface="DM Sans" charset="0"/>
                        <a:ea typeface="DM Sans" charset="0"/>
                        <a:cs typeface="DM Sans" charset="0"/>
                      </a:endParaRPr>
                    </a:p>
                  </a:txBody>
                  <a:tcPr marL="57785" marR="57785" marT="57785" marB="57785">
                    <a:lnL w="12700" cap="flat" cmpd="sng" algn="ctr">
                      <a:solidFill>
                        <a:srgbClr val="C4C4C0"/>
                      </a:solidFill>
                      <a:prstDash val="solid"/>
                      <a:round/>
                      <a:headEnd type="none" w="med" len="med"/>
                      <a:tailEnd type="none" w="med" len="med"/>
                    </a:lnL>
                    <a:lnR w="12700" cap="flat" cmpd="sng" algn="ctr">
                      <a:solidFill>
                        <a:srgbClr val="C4C4C0"/>
                      </a:solidFill>
                      <a:prstDash val="solid"/>
                      <a:round/>
                      <a:headEnd type="none" w="med" len="med"/>
                      <a:tailEnd type="none" w="med" len="med"/>
                    </a:lnR>
                    <a:lnT w="12700" cap="flat" cmpd="sng" algn="ctr">
                      <a:solidFill>
                        <a:srgbClr val="C4C4C0"/>
                      </a:solidFill>
                      <a:prstDash val="solid"/>
                      <a:round/>
                      <a:headEnd type="none" w="med" len="med"/>
                      <a:tailEnd type="none" w="med" len="med"/>
                    </a:lnT>
                    <a:lnB w="12700" cap="flat" cmpd="sng" algn="ctr">
                      <a:solidFill>
                        <a:srgbClr val="C4C4C0"/>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Text 2"/>
          <p:cNvSpPr/>
          <p:nvPr/>
        </p:nvSpPr>
        <p:spPr>
          <a:xfrm>
            <a:off x="812800" y="5139928"/>
            <a:ext cx="10883392"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5606E"/>
                </a:solidFill>
                <a:latin typeface="DM Sans" pitchFamily="34" charset="0"/>
                <a:ea typeface="DM Sans" pitchFamily="34" charset="-122"/>
                <a:cs typeface="DM Sans" pitchFamily="34" charset="-120"/>
              </a:rPr>
              <a:t>Beneficio esperado, aún no medido:</a:t>
            </a:r>
            <a:r>
              <a:rPr lang="en-US" sz="1300" dirty="0">
                <a:solidFill>
                  <a:srgbClr val="55606E"/>
                </a:solidFill>
                <a:latin typeface="DM Sans" pitchFamily="34" charset="0"/>
                <a:ea typeface="DM Sans" pitchFamily="34" charset="-122"/>
                <a:cs typeface="DM Sans" pitchFamily="34" charset="-120"/>
              </a:rPr>
              <a:t> menos revisiones manuales y menos alertas olvidadas.</a:t>
            </a:r>
            <a:endParaRPr lang="en-US" sz="1300" dirty="0"/>
          </a:p>
        </p:txBody>
      </p:sp>
      <p:sp>
        <p:nvSpPr>
          <p:cNvPr id="6" name="Text 3"/>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7" name="Text 4"/>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1"/>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72380"/>
          </a:xfrm>
          <a:prstGeom prst="rect">
            <a:avLst/>
          </a:prstGeom>
          <a:noFill/>
          <a:ln/>
        </p:spPr>
        <p:txBody>
          <a:bodyPr wrap="square" lIns="0" tIns="0" rIns="0" bIns="0" rtlCol="0" anchor="t">
            <a:normAutofit/>
          </a:bodyPr>
          <a:lstStyle/>
          <a:p>
            <a:pPr marL="0" indent="0" algn="l">
              <a:lnSpc>
                <a:spcPts val="3520"/>
              </a:lnSpc>
              <a:buNone/>
            </a:pPr>
            <a:r>
              <a:rPr lang="en-US" sz="3200" b="1" i="0" dirty="0">
                <a:solidFill>
                  <a:srgbClr val="1B2430"/>
                </a:solidFill>
                <a:latin typeface="DM Sans" pitchFamily="34" charset="0"/>
                <a:ea typeface="DM Sans" pitchFamily="34" charset="-122"/>
                <a:cs typeface="DM Sans" pitchFamily="34" charset="-120"/>
              </a:rPr>
              <a:t>Estado final de la solución</a:t>
            </a:r>
            <a:endParaRPr lang="en-US" sz="3200" dirty="0"/>
          </a:p>
        </p:txBody>
      </p:sp>
      <p:sp>
        <p:nvSpPr>
          <p:cNvPr id="3" name="Shape 1"/>
          <p:cNvSpPr/>
          <p:nvPr/>
        </p:nvSpPr>
        <p:spPr>
          <a:xfrm>
            <a:off x="812800" y="1437580"/>
            <a:ext cx="3403600" cy="2592784"/>
          </a:xfrm>
          <a:prstGeom prst="roundRect">
            <a:avLst>
              <a:gd name="adj" fmla="val 3919"/>
            </a:avLst>
          </a:prstGeom>
          <a:solidFill>
            <a:srgbClr val="DCEFEC"/>
          </a:solidFill>
          <a:ln/>
        </p:spPr>
      </p:sp>
      <p:sp>
        <p:nvSpPr>
          <p:cNvPr id="4" name="Text 2"/>
          <p:cNvSpPr/>
          <p:nvPr/>
        </p:nvSpPr>
        <p:spPr>
          <a:xfrm>
            <a:off x="10033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B5B54"/>
                </a:solidFill>
                <a:latin typeface="DM Sans" pitchFamily="34" charset="0"/>
                <a:ea typeface="DM Sans" pitchFamily="34" charset="-122"/>
                <a:cs typeface="DM Sans" pitchFamily="34" charset="-120"/>
              </a:rPr>
              <a:t>Implementado</a:t>
            </a:r>
            <a:endParaRPr lang="en-US" sz="1800" dirty="0"/>
          </a:p>
        </p:txBody>
      </p:sp>
      <p:sp>
        <p:nvSpPr>
          <p:cNvPr id="5" name="Text 3"/>
          <p:cNvSpPr/>
          <p:nvPr/>
        </p:nvSpPr>
        <p:spPr>
          <a:xfrm>
            <a:off x="1094994" y="1991221"/>
            <a:ext cx="3013964" cy="1642963"/>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Webhook GET</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Lectura y escritura con HTTP Request</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Subworkflow de validación</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Alertas sin duplicados</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Reintentos: 3 intentos, 2 s</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Manejador que guarda incidentes</a:t>
            </a:r>
            <a:endParaRPr lang="en-US" sz="1300" dirty="0"/>
          </a:p>
        </p:txBody>
      </p:sp>
      <p:sp>
        <p:nvSpPr>
          <p:cNvPr id="6" name="Shape 4"/>
          <p:cNvSpPr/>
          <p:nvPr/>
        </p:nvSpPr>
        <p:spPr>
          <a:xfrm>
            <a:off x="4394200" y="1437580"/>
            <a:ext cx="3403600" cy="2592784"/>
          </a:xfrm>
          <a:prstGeom prst="roundRect">
            <a:avLst>
              <a:gd name="adj" fmla="val 3919"/>
            </a:avLst>
          </a:prstGeom>
          <a:solidFill>
            <a:srgbClr val="FBEBD7"/>
          </a:solidFill>
          <a:ln/>
        </p:spPr>
      </p:sp>
      <p:sp>
        <p:nvSpPr>
          <p:cNvPr id="7" name="Text 5"/>
          <p:cNvSpPr/>
          <p:nvPr/>
        </p:nvSpPr>
        <p:spPr>
          <a:xfrm>
            <a:off x="45847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8A3F06"/>
                </a:solidFill>
                <a:latin typeface="DM Sans" pitchFamily="34" charset="0"/>
                <a:ea typeface="DM Sans" pitchFamily="34" charset="-122"/>
                <a:cs typeface="DM Sans" pitchFamily="34" charset="-120"/>
              </a:rPr>
              <a:t>Simulado</a:t>
            </a:r>
            <a:endParaRPr lang="en-US" sz="1800" dirty="0"/>
          </a:p>
        </p:txBody>
      </p:sp>
      <p:sp>
        <p:nvSpPr>
          <p:cNvPr id="8" name="Text 6"/>
          <p:cNvSpPr/>
          <p:nvPr/>
        </p:nvSpPr>
        <p:spPr>
          <a:xfrm>
            <a:off x="4676394" y="1991221"/>
            <a:ext cx="3013964" cy="1180802"/>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El fallo técnico, provocado cambiando la URL a una tabla inexistente</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Todos los datos del inventario, que son ficticios</a:t>
            </a:r>
            <a:endParaRPr lang="en-US" sz="1300" dirty="0"/>
          </a:p>
        </p:txBody>
      </p:sp>
      <p:sp>
        <p:nvSpPr>
          <p:cNvPr id="9" name="Shape 7"/>
          <p:cNvSpPr/>
          <p:nvPr/>
        </p:nvSpPr>
        <p:spPr>
          <a:xfrm>
            <a:off x="7975600" y="1437580"/>
            <a:ext cx="3403600" cy="2592784"/>
          </a:xfrm>
          <a:prstGeom prst="roundRect">
            <a:avLst>
              <a:gd name="adj" fmla="val 3919"/>
            </a:avLst>
          </a:prstGeom>
          <a:solidFill>
            <a:srgbClr val="E4E8F5"/>
          </a:solidFill>
          <a:ln/>
        </p:spPr>
      </p:sp>
      <p:sp>
        <p:nvSpPr>
          <p:cNvPr id="10" name="Text 8"/>
          <p:cNvSpPr/>
          <p:nvPr/>
        </p:nvSpPr>
        <p:spPr>
          <a:xfrm>
            <a:off x="8166100" y="1628080"/>
            <a:ext cx="311327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2B3A8C"/>
                </a:solidFill>
                <a:latin typeface="DM Sans" pitchFamily="34" charset="0"/>
                <a:ea typeface="DM Sans" pitchFamily="34" charset="-122"/>
                <a:cs typeface="DM Sans" pitchFamily="34" charset="-120"/>
              </a:rPr>
              <a:t>Propuesto</a:t>
            </a:r>
            <a:endParaRPr lang="en-US" sz="1800" dirty="0"/>
          </a:p>
        </p:txBody>
      </p:sp>
      <p:sp>
        <p:nvSpPr>
          <p:cNvPr id="11" name="Text 9"/>
          <p:cNvSpPr/>
          <p:nvPr/>
        </p:nvSpPr>
        <p:spPr>
          <a:xfrm>
            <a:off x="8257794" y="1991221"/>
            <a:ext cx="3013964" cy="1874044"/>
          </a:xfrm>
          <a:prstGeom prst="rect">
            <a:avLst/>
          </a:prstGeom>
          <a:noFill/>
          <a:ln/>
        </p:spPr>
        <p:txBody>
          <a:bodyPr wrap="square" lIns="0" tIns="0" rIns="0" bIns="0" rtlCol="0" anchor="t">
            <a:normAutofit/>
          </a:bodyPr>
          <a:lstStyle/>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Avisar por correo o chat al registrar un incidente</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Responder al cliente si falla el registro</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Validar la petición sin el parámetro producto</a:t>
            </a:r>
            <a:endParaRPr lang="en-US" sz="1300" dirty="0"/>
          </a:p>
          <a:p>
            <a:pPr marL="162306" indent="-162306" algn="l">
              <a:lnSpc>
                <a:spcPts val="1820"/>
              </a:lnSpc>
              <a:buSzPct val="100000"/>
              <a:buChar char="•"/>
            </a:pPr>
            <a:r>
              <a:rPr lang="en-US" sz="1300" dirty="0">
                <a:solidFill>
                  <a:srgbClr val="1B2430"/>
                </a:solidFill>
                <a:latin typeface="DM Sans" pitchFamily="34" charset="0"/>
                <a:ea typeface="DM Sans" pitchFamily="34" charset="-122"/>
                <a:cs typeface="DM Sans" pitchFamily="34" charset="-120"/>
              </a:rPr>
              <a:t>Reactivar la seguridad por filas con políticas</a:t>
            </a:r>
            <a:endParaRPr lang="en-US" sz="1300" dirty="0"/>
          </a:p>
        </p:txBody>
      </p:sp>
      <p:sp>
        <p:nvSpPr>
          <p:cNvPr id="13" name="Text 11"/>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5606E"/>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4" name="Text 12"/>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5606E"/>
                </a:solidFill>
                <a:latin typeface="DM Sans" pitchFamily="34" charset="0"/>
                <a:ea typeface="DM Sans" pitchFamily="34" charset="-122"/>
                <a:cs typeface="DM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2202B"/>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1910159"/>
            <a:ext cx="10883392" cy="528241"/>
          </a:xfrm>
          <a:prstGeom prst="rect">
            <a:avLst/>
          </a:prstGeom>
          <a:noFill/>
          <a:ln/>
        </p:spPr>
        <p:txBody>
          <a:bodyPr wrap="square" lIns="0" tIns="0" rIns="0" bIns="0" rtlCol="0" anchor="t">
            <a:normAutofit/>
          </a:bodyPr>
          <a:lstStyle/>
          <a:p>
            <a:pPr marL="0" indent="0" algn="l">
              <a:lnSpc>
                <a:spcPts val="3960"/>
              </a:lnSpc>
              <a:buNone/>
            </a:pPr>
            <a:r>
              <a:rPr lang="en-US" sz="3600" b="1" i="0" dirty="0">
                <a:solidFill>
                  <a:srgbClr val="F6F5F1"/>
                </a:solidFill>
                <a:latin typeface="DM Sans" pitchFamily="34" charset="0"/>
                <a:ea typeface="DM Sans" pitchFamily="34" charset="-122"/>
                <a:cs typeface="DM Sans" pitchFamily="34" charset="-120"/>
              </a:rPr>
              <a:t>Acceso al proyecto</a:t>
            </a:r>
            <a:endParaRPr lang="en-US" sz="3600" dirty="0"/>
          </a:p>
        </p:txBody>
      </p:sp>
      <p:sp>
        <p:nvSpPr>
          <p:cNvPr id="3" name="Shape 1"/>
          <p:cNvSpPr/>
          <p:nvPr/>
        </p:nvSpPr>
        <p:spPr>
          <a:xfrm>
            <a:off x="812800" y="2667000"/>
            <a:ext cx="10566400" cy="1137841"/>
          </a:xfrm>
          <a:prstGeom prst="roundRect">
            <a:avLst>
              <a:gd name="adj" fmla="val 11161"/>
            </a:avLst>
          </a:prstGeom>
          <a:solidFill>
            <a:srgbClr val="1E3342"/>
          </a:solidFill>
          <a:ln/>
        </p:spPr>
      </p:sp>
      <p:sp>
        <p:nvSpPr>
          <p:cNvPr id="4" name="Text 2"/>
          <p:cNvSpPr/>
          <p:nvPr/>
        </p:nvSpPr>
        <p:spPr>
          <a:xfrm>
            <a:off x="1092200" y="2895600"/>
            <a:ext cx="10307828" cy="274241"/>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7DD3C8"/>
                </a:solidFill>
                <a:latin typeface="DM Sans" pitchFamily="34" charset="0"/>
                <a:ea typeface="DM Sans" pitchFamily="34" charset="-122"/>
                <a:cs typeface="DM Sans" pitchFamily="34" charset="-120"/>
              </a:rPr>
              <a:t>REPOSITORIO EN GITHUB</a:t>
            </a:r>
            <a:endParaRPr lang="en-US" sz="1400" dirty="0"/>
          </a:p>
        </p:txBody>
      </p:sp>
      <p:sp>
        <p:nvSpPr>
          <p:cNvPr id="5" name="Text 3"/>
          <p:cNvSpPr/>
          <p:nvPr/>
        </p:nvSpPr>
        <p:spPr>
          <a:xfrm>
            <a:off x="1092200" y="3220641"/>
            <a:ext cx="10307828" cy="381000"/>
          </a:xfrm>
          <a:prstGeom prst="rect">
            <a:avLst/>
          </a:prstGeom>
          <a:noFill/>
          <a:ln/>
        </p:spPr>
        <p:txBody>
          <a:bodyPr wrap="square" lIns="0" tIns="0" rIns="0" bIns="0" rtlCol="0" anchor="t">
            <a:normAutofit/>
          </a:bodyPr>
          <a:lstStyle/>
          <a:p>
            <a:pPr marL="0" indent="0" algn="l">
              <a:lnSpc>
                <a:spcPts val="2800"/>
              </a:lnSpc>
              <a:buNone/>
            </a:pPr>
            <a:r>
              <a:rPr lang="en-US" sz="2000" dirty="0">
                <a:solidFill>
                  <a:schemeClr val="bg1"/>
                </a:solidFill>
              </a:rPr>
              <a:t>https://github.com/michaelEAM/n8n-inventario-alertas-reposicion.git</a:t>
            </a:r>
          </a:p>
        </p:txBody>
      </p:sp>
      <p:sp>
        <p:nvSpPr>
          <p:cNvPr id="6" name="Text 4"/>
          <p:cNvSpPr/>
          <p:nvPr/>
        </p:nvSpPr>
        <p:spPr>
          <a:xfrm>
            <a:off x="812800" y="40588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README:</a:t>
            </a:r>
            <a:r>
              <a:rPr lang="en-US" sz="1500" dirty="0">
                <a:solidFill>
                  <a:srgbClr val="F6F5F1"/>
                </a:solidFill>
                <a:latin typeface="DM Sans" pitchFamily="34" charset="0"/>
                <a:ea typeface="DM Sans" pitchFamily="34" charset="-122"/>
                <a:cs typeface="DM Sans" pitchFamily="34" charset="-120"/>
              </a:rPr>
              <a:t> qué hace, cómo configurarlo y probarlo.</a:t>
            </a:r>
            <a:endParaRPr lang="en-US" sz="1500" dirty="0"/>
          </a:p>
        </p:txBody>
      </p:sp>
      <p:sp>
        <p:nvSpPr>
          <p:cNvPr id="7" name="Text 5"/>
          <p:cNvSpPr/>
          <p:nvPr/>
        </p:nvSpPr>
        <p:spPr>
          <a:xfrm>
            <a:off x="6172200" y="4058841"/>
            <a:ext cx="601980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workflows:</a:t>
            </a:r>
            <a:r>
              <a:rPr lang="en-US" sz="1500" dirty="0">
                <a:solidFill>
                  <a:srgbClr val="F6F5F1"/>
                </a:solidFill>
                <a:latin typeface="DM Sans" pitchFamily="34" charset="0"/>
                <a:ea typeface="DM Sans" pitchFamily="34" charset="-122"/>
                <a:cs typeface="DM Sans" pitchFamily="34" charset="-120"/>
              </a:rPr>
              <a:t> los tres archivos JSON y el script de Supabase.</a:t>
            </a:r>
            <a:endParaRPr lang="en-US" sz="1500" dirty="0"/>
          </a:p>
        </p:txBody>
      </p:sp>
      <p:sp>
        <p:nvSpPr>
          <p:cNvPr id="8" name="Text 6"/>
          <p:cNvSpPr/>
          <p:nvPr/>
        </p:nvSpPr>
        <p:spPr>
          <a:xfrm>
            <a:off x="812800" y="44779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Bitácora unificada:</a:t>
            </a:r>
            <a:r>
              <a:rPr lang="en-US" sz="1500" dirty="0">
                <a:solidFill>
                  <a:srgbClr val="F6F5F1"/>
                </a:solidFill>
                <a:latin typeface="DM Sans" pitchFamily="34" charset="0"/>
                <a:ea typeface="DM Sans" pitchFamily="34" charset="-122"/>
                <a:cs typeface="DM Sans" pitchFamily="34" charset="-120"/>
              </a:rPr>
              <a:t> el funcionamiento completo.</a:t>
            </a:r>
            <a:endParaRPr lang="en-US" sz="1500" dirty="0"/>
          </a:p>
        </p:txBody>
      </p:sp>
      <p:sp>
        <p:nvSpPr>
          <p:cNvPr id="9" name="Text 7"/>
          <p:cNvSpPr/>
          <p:nvPr/>
        </p:nvSpPr>
        <p:spPr>
          <a:xfrm>
            <a:off x="6172200" y="4477941"/>
            <a:ext cx="536321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5F1"/>
                </a:solidFill>
                <a:latin typeface="DM Sans" pitchFamily="34" charset="0"/>
                <a:ea typeface="DM Sans" pitchFamily="34" charset="-122"/>
                <a:cs typeface="DM Sans" pitchFamily="34" charset="-120"/>
              </a:rPr>
              <a:t>Evidencias:</a:t>
            </a:r>
            <a:r>
              <a:rPr lang="en-US" sz="1500" dirty="0">
                <a:solidFill>
                  <a:srgbClr val="F6F5F1"/>
                </a:solidFill>
                <a:latin typeface="DM Sans" pitchFamily="34" charset="0"/>
                <a:ea typeface="DM Sans" pitchFamily="34" charset="-122"/>
                <a:cs typeface="DM Sans" pitchFamily="34" charset="-120"/>
              </a:rPr>
              <a:t> capturas y pruebas de cada caso.</a:t>
            </a:r>
            <a:endParaRPr lang="en-US" sz="1500" dirty="0"/>
          </a:p>
        </p:txBody>
      </p:sp>
      <p:sp>
        <p:nvSpPr>
          <p:cNvPr id="10" name="Text 8"/>
          <p:cNvSpPr/>
          <p:nvPr/>
        </p:nvSpPr>
        <p:spPr>
          <a:xfrm>
            <a:off x="812800" y="6238280"/>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0BD"/>
                </a:solidFill>
                <a:latin typeface="DM Sans" pitchFamily="34" charset="0"/>
                <a:ea typeface="DM Sans" pitchFamily="34" charset="-122"/>
                <a:cs typeface="DM Sans" pitchFamily="34" charset="-120"/>
              </a:rPr>
              <a:t>Inventario: revisión de stock · Segundo corte · 2026 II</a:t>
            </a:r>
            <a:endParaRPr lang="en-US" sz="1200" dirty="0"/>
          </a:p>
        </p:txBody>
      </p:sp>
      <p:sp>
        <p:nvSpPr>
          <p:cNvPr id="11" name="Text 9"/>
          <p:cNvSpPr/>
          <p:nvPr/>
        </p:nvSpPr>
        <p:spPr>
          <a:xfrm>
            <a:off x="10058400" y="6238280"/>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9FB0BD"/>
                </a:solidFill>
                <a:latin typeface="DM Sans" pitchFamily="34" charset="0"/>
                <a:ea typeface="DM Sans" pitchFamily="34" charset="-122"/>
                <a:cs typeface="DM Sans" pitchFamily="34" charset="-120"/>
              </a:rPr>
              <a:t>14</a:t>
            </a:r>
            <a:endParaRPr lang="en-US" sz="1200" dirty="0"/>
          </a:p>
        </p:txBody>
      </p:sp>
    </p:spTree>
  </p:cSld>
  <p:clrMapOvr>
    <a:masterClrMapping/>
  </p:clrMapOvr>
</p:sld>
</file>

<file path=ppt/theme/theme1.xml><?xml version="1.0" encoding="utf-8"?>
<a:theme xmlns:a="http://schemas.openxmlformats.org/drawingml/2006/main" name="Presentación Corte 2 - Inventario">
  <a:themeElements>
    <a:clrScheme name="Presentación Corte 2 - Inventario">
      <a:dk1>
        <a:srgbClr val="1B2430"/>
      </a:dk1>
      <a:lt1>
        <a:srgbClr val="F6F5F1"/>
      </a:lt1>
      <a:dk2>
        <a:srgbClr val="525860"/>
      </a:dk2>
      <a:lt2>
        <a:srgbClr val="E0E0DE"/>
      </a:lt2>
      <a:accent1>
        <a:srgbClr val="0F766E"/>
      </a:accent1>
      <a:accent2>
        <a:srgbClr val="7DD3C8"/>
      </a:accent2>
      <a:accent3>
        <a:srgbClr val="0B5B54"/>
      </a:accent3>
      <a:accent4>
        <a:srgbClr val="8A3F06"/>
      </a:accent4>
      <a:accent5>
        <a:srgbClr val="B45309"/>
      </a:accent5>
      <a:accent6>
        <a:srgbClr val="2B3A8C"/>
      </a:accent6>
      <a:hlink>
        <a:srgbClr val="0563C1"/>
      </a:hlink>
      <a:folHlink>
        <a:srgbClr val="954F72"/>
      </a:folHlink>
    </a:clrScheme>
    <a:fontScheme name="Presentación Corte 2 - Inventario">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TotalTime>
  <Words>2068</Words>
  <Application>Microsoft Office PowerPoint</Application>
  <PresentationFormat>Panorámica</PresentationFormat>
  <Paragraphs>244</Paragraphs>
  <Slides>14</Slides>
  <Notes>14</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14</vt:i4>
      </vt:variant>
    </vt:vector>
  </HeadingPairs>
  <TitlesOfParts>
    <vt:vector size="19" baseType="lpstr">
      <vt:lpstr>Arial</vt:lpstr>
      <vt:lpstr>Consolas</vt:lpstr>
      <vt:lpstr>DM Sans</vt:lpstr>
      <vt:lpstr>Calibri</vt:lpstr>
      <vt:lpstr>Presentación Corte 2 - Inventario</vt:lpstr>
      <vt:lpstr>Inventario: revisión de stock y alertas de reposición</vt:lpstr>
      <vt:lpstr>Un faltante que nadie vio a tiempo</vt:lpstr>
      <vt:lpstr>Cómo se hace hoy, a mano</vt:lpstr>
      <vt:lpstr>Objetivo y alcance de esta versión</vt:lpstr>
      <vt:lpstr>La solución automatizada</vt:lpstr>
      <vt:lpstr>Recorrido de un caso completo</vt:lpstr>
      <vt:lpstr>Resultado real: respuesta y registro</vt:lpstr>
      <vt:lpstr>Integraciones: qué se intercambia con Supabase</vt:lpstr>
      <vt:lpstr>Organización de los workflows</vt:lpstr>
      <vt:lpstr>Validaciones y errores: dos situaciones distintas</vt:lpstr>
      <vt:lpstr>Fallo técnico controlado y recuperación</vt:lpstr>
      <vt:lpstr>Pruebas y resultados</vt:lpstr>
      <vt:lpstr>Estado final de la solución</vt:lpstr>
      <vt:lpstr>Acceso al proyecto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Corte 2 - Inventario</dc:title>
  <dc:subject/>
  <dc:creator>USUARIO</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presentationâ€™s text: its family and style names and the weight and style it declares were rewritten, and any digital signature, which no longer matched, was removed. Google Fonts serves each family in parts, one file per range of characters, so these may not be a familyâ€™s complete files. Each familyâ€™s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dc:description>
  <cp:lastModifiedBy>USUARIO</cp:lastModifiedBy>
  <cp:revision>6</cp:revision>
  <dcterms:created xsi:type="dcterms:W3CDTF">2026-10-25T20:11:11Z</dcterms:created>
  <dcterms:modified xsi:type="dcterms:W3CDTF">2026-10-26T21:14:07Z</dcterms:modified>
</cp:coreProperties>
</file>